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304" r:id="rId2"/>
    <p:sldId id="258" r:id="rId3"/>
    <p:sldId id="259" r:id="rId4"/>
    <p:sldId id="305" r:id="rId5"/>
    <p:sldId id="261" r:id="rId6"/>
    <p:sldId id="334" r:id="rId7"/>
    <p:sldId id="335" r:id="rId8"/>
    <p:sldId id="336" r:id="rId9"/>
    <p:sldId id="338" r:id="rId10"/>
    <p:sldId id="269" r:id="rId11"/>
    <p:sldId id="271" r:id="rId12"/>
    <p:sldId id="349" r:id="rId13"/>
    <p:sldId id="355" r:id="rId14"/>
    <p:sldId id="361" r:id="rId15"/>
    <p:sldId id="360" r:id="rId16"/>
    <p:sldId id="279" r:id="rId17"/>
    <p:sldId id="359" r:id="rId18"/>
    <p:sldId id="342" r:id="rId19"/>
    <p:sldId id="284" r:id="rId20"/>
    <p:sldId id="285" r:id="rId21"/>
    <p:sldId id="356" r:id="rId22"/>
    <p:sldId id="287" r:id="rId23"/>
    <p:sldId id="354" r:id="rId24"/>
    <p:sldId id="352" r:id="rId25"/>
    <p:sldId id="353" r:id="rId26"/>
    <p:sldId id="345" r:id="rId27"/>
    <p:sldId id="295" r:id="rId28"/>
    <p:sldId id="348" r:id="rId29"/>
    <p:sldId id="29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7"/>
    <p:restoredTop sz="85170"/>
  </p:normalViewPr>
  <p:slideViewPr>
    <p:cSldViewPr snapToGrid="0">
      <p:cViewPr>
        <p:scale>
          <a:sx n="90" d="100"/>
          <a:sy n="90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785B6-E1B0-F747-8287-E739C02AE7C3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C3E0A-E133-2140-88AE-6A061FD2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0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Scale: 3M+ variants, 6M+ SCVs processed per ClinVar release (typically weekly). This is the first substantive dataset to implement the GA4GH Aggregate Statement profile. Mention date, presenter name.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C3E0A-E133-2140-88AE-6A061FD2BC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32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C3E0A-E133-2140-88AE-6A061FD2BC8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29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C3E0A-E133-2140-88AE-6A061FD2BC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72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C3E0A-E133-2140-88AE-6A061FD2BC8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82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C3E0A-E133-2140-88AE-6A061FD2BC8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83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BAE4-A3BC-67F9-FBDD-6FCDFB0E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5BB85-2477-29B3-AAB0-BCDDD563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E88B2-6C97-CC4B-AA39-C3653BAE9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C6F3C-238E-A730-A699-A1BB9D25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ABD1-94E0-EA41-1D86-7BD9AF85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17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B4AE-00B0-848C-1B46-BD8A0AE2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37E28-FBEB-0A3F-B47E-E4D9B988C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4EA59-B3BF-AE6A-82F6-5FEEC93C5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B251F-1DF4-0350-FD83-78498B11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2CCEA-F266-9185-1021-8AB3AFBD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5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4DD3-94EF-F2BF-8987-0D827FF4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C9CDD-AEFC-9960-F7C7-AC993E794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F82CB-BB57-27F6-69F4-7B089E1C3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7ADA7-C0CF-57E6-B5EB-4B4895E2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3981C-8742-8A83-F11B-E1DBC4C9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1BD7C-CAAE-25E9-5AED-8A5AE8D1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20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8EFA5-5923-7B89-FF73-1E115087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FAB55-F4EF-C95E-3C6F-69290A718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C592D-AE9D-0955-C111-A43265462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48882-40C0-9249-FA0A-3E8914FC7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A2B97-5096-32CF-AC93-B864FF6014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4A655-44E6-B52F-40F8-C11951055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9CA1B-EDD8-FCBB-0E7C-3E16B0DC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BB9FE2-A3CE-120A-5385-C78FC787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7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10E9-4856-1629-F63F-6AC885560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FF60E-487F-4583-625C-ABDFFA9A7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65A21-3298-6E03-44D0-9DDD9235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DF4F9-5A28-1BF4-1A27-261AFDA8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3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D9D68-15FD-5609-7B27-9AF37044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DA861-38A8-2EA8-7AFF-EC71C2EF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D695B-6C1B-3EC3-B85D-02C2981A9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7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5751-8CE0-24CF-4313-72FA5566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AED4D-02CC-06EF-1074-C4E33FDEF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69BA5-9D4A-DE90-28C7-6EDAEB748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8D893-77A5-2501-5D91-6379E8E6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4481F-4B2A-5264-BA07-74511C65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F5FDB-CAC1-3F00-E18B-F2EE92E6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8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96DF-223F-9F21-6EEF-C1A5031C1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C847EE-E1C3-8E9F-4CC6-1188BFD1C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8F5A6-D58B-422D-E293-BB82AE2F4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3BDBB-99EC-63A5-593F-98A7308F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93F63-44D5-F2CD-2F71-F4F6EC11C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9F70A-C239-457F-6605-C23DA9E1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8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F611-78EE-0B7C-FDF1-17C1F55F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76B74-9DB1-4019-A555-EB9F59681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24CD5-DE73-FE3B-9C7A-D6BF8DED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93BCA-D03E-77E8-8253-82EB3D80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D36A3-BDDD-7B9E-3D30-AFF2F1F3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58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D717F2-0F9C-B94B-EE92-8498E4A49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231B9-9D5B-EE4A-B330-351A3AFE3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8E7CA-25DE-457B-7B9B-D55F0835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6F0-231A-AE98-ED70-4539B0AB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5E247-E7EE-34AF-4A43-27CB8235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03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8B59A3-CCDA-B0AF-9160-772742D7E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010EA-A476-E325-A0C5-07A5D80A9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AC3A3-11B6-EC37-D7CF-95ECB0995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9CB0D-5220-C148-B994-EAB7CF1EE4A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1512D-2B3B-68E9-4D5C-F4AFCDE8F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C6761-0D5E-FF0D-6763-4251DC08F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CF4A3-A93F-004D-BA9A-2B23DC0CA0B5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gradFill>
            <a:gsLst>
              <a:gs pos="0">
                <a:srgbClr val="1565C0"/>
              </a:gs>
              <a:gs pos="50000">
                <a:srgbClr val="00897B"/>
              </a:gs>
              <a:gs pos="100000">
                <a:srgbClr val="2E7D32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LeftAccent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565C0">
              <a:alpha val="3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A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A4A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2D3A4A"/>
          </a:solidFill>
        </a:defRPr>
      </a:defPPr>
      <a:lvl1pPr marL="0" algn="l" defTabSz="914400" rtl="0" eaLnBrk="1" latinLnBrk="0" hangingPunct="1">
        <a:defRPr sz="1800" kern="1200">
          <a:solidFill>
            <a:srgbClr val="2D3A4A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2D3A4A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2D3A4A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2D3A4A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2D3A4A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2D3A4A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2D3A4A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2D3A4A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2D3A4A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D031BA-17B7-8345-BBA2-1C91FBF35E74}"/>
              </a:ext>
            </a:extLst>
          </p:cNvPr>
          <p:cNvSpPr txBox="1"/>
          <p:nvPr/>
        </p:nvSpPr>
        <p:spPr>
          <a:xfrm>
            <a:off x="1016000" y="1524000"/>
            <a:ext cx="1016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1A1A2E"/>
                </a:solidFill>
                <a:latin typeface="Segoe UI Semibold"/>
              </a:rPr>
              <a:t>ClinVar VCV Statements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8972D8-DEA9-D94A-8C16-E9A328817408}"/>
              </a:ext>
            </a:extLst>
          </p:cNvPr>
          <p:cNvSpPr txBox="1"/>
          <p:nvPr/>
        </p:nvSpPr>
        <p:spPr>
          <a:xfrm>
            <a:off x="1270000" y="2667000"/>
            <a:ext cx="965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2D3A4A"/>
                </a:solidFill>
                <a:latin typeface="Segoe UI"/>
              </a:rPr>
              <a:t>Aggregating Clinical Evidence with</a:t>
            </a:r>
          </a:p>
          <a:p>
            <a:pPr algn="ctr"/>
            <a:r>
              <a:rPr lang="en-US" sz="2000" dirty="0">
                <a:solidFill>
                  <a:srgbClr val="2D3A4A"/>
                </a:solidFill>
                <a:latin typeface="Segoe UI"/>
              </a:rPr>
              <a:t>GA4GH Genomic Knowledge Standards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EBA54-31C8-F143-BC25-DAB37064D896}"/>
              </a:ext>
            </a:extLst>
          </p:cNvPr>
          <p:cNvSpPr txBox="1"/>
          <p:nvPr/>
        </p:nvSpPr>
        <p:spPr>
          <a:xfrm>
            <a:off x="1905000" y="4445000"/>
            <a:ext cx="8382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i="1" dirty="0">
                <a:solidFill>
                  <a:srgbClr val="546E7A"/>
                </a:solidFill>
                <a:latin typeface="Segoe UI"/>
              </a:rPr>
              <a:t>First implementation of the GA4GH Aggregate Statement profile at scale</a:t>
            </a:r>
          </a:p>
          <a:p>
            <a:pPr algn="ctr"/>
            <a:r>
              <a:rPr lang="en-US" sz="1400" i="1" dirty="0">
                <a:solidFill>
                  <a:srgbClr val="546E7A"/>
                </a:solidFill>
                <a:latin typeface="Segoe UI"/>
              </a:rPr>
              <a:t>Weekly releases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BC8627-5803-7948-927A-EAFCE6DAA5BC}"/>
              </a:ext>
            </a:extLst>
          </p:cNvPr>
          <p:cNvSpPr/>
          <p:nvPr/>
        </p:nvSpPr>
        <p:spPr>
          <a:xfrm>
            <a:off x="4826000" y="3937000"/>
            <a:ext cx="2540000" cy="38100"/>
          </a:xfrm>
          <a:prstGeom prst="rect">
            <a:avLst/>
          </a:prstGeom>
          <a:solidFill>
            <a:srgbClr val="1565C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FD8FE-0AE4-CE43-B52B-85AA47A2B185}"/>
              </a:ext>
            </a:extLst>
          </p:cNvPr>
          <p:cNvSpPr txBox="1"/>
          <p:nvPr/>
        </p:nvSpPr>
        <p:spPr>
          <a:xfrm>
            <a:off x="2540000" y="5588000"/>
            <a:ext cx="711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dirty="0">
                <a:solidFill>
                  <a:srgbClr val="78909C"/>
                </a:solidFill>
                <a:latin typeface="Segoe UI"/>
              </a:rPr>
              <a:t>Larry Babb, Broad Institute  |  25.Mar.2026</a:t>
            </a:r>
          </a:p>
        </p:txBody>
      </p:sp>
    </p:spTree>
    <p:extLst>
      <p:ext uri="{BB962C8B-B14F-4D97-AF65-F5344CB8AC3E}">
        <p14:creationId xmlns:p14="http://schemas.microsoft.com/office/powerpoint/2010/main" val="612931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CC8D-C3F2-267B-86D6-D1ABC170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5BE6D-9E26-8B32-D74F-D58EA26C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The problem: why aggregate?
GA4GH building blocks — Statement, Proposition, </a:t>
            </a:r>
            <a:r>
              <a:rPr lang="en-US" sz="1600" dirty="0" err="1"/>
              <a:t>EvidenceLine</a:t>
            </a:r>
            <a:r>
              <a:rPr lang="en-US" sz="1600" dirty="0"/>
              <a:t>
SCV statements — the atomic unit
Three assertion groups (Germline, Somatic, Oncogenicity)
The 4-layer aggregation architecture
SCV references at leaf nodes
Contributing vs. non-contributing — the bubbling rules
Full Germline walkthrough (VCV000012582.63-G)
Somatic Clinical Impact walkthrough (VCV000012582.63-S-SCI)
Design decisions for discussion</a:t>
            </a:r>
          </a:p>
        </p:txBody>
      </p:sp>
    </p:spTree>
    <p:extLst>
      <p:ext uri="{BB962C8B-B14F-4D97-AF65-F5344CB8AC3E}">
        <p14:creationId xmlns:p14="http://schemas.microsoft.com/office/powerpoint/2010/main" val="395264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D98AB-00F9-8CD6-1BB1-117CEB6EB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The Problem — Why Aggregate?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6F9BF-3C61-6414-CB2C-3076FF170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ClinVar receives independent submissions (SCVs) from labs, expert panels, and guideline bodies
A single variant can have 30+ SCVs with different classifications, review quality, and assertion types
Consumers need a consolidated view: "What does the community say about this variant?"
Current ClinVar VCV records aggregate — but lack a standard computable representation
GA4GH GKS provides one — with full traceability back to every individual submission</a:t>
            </a:r>
          </a:p>
        </p:txBody>
      </p:sp>
    </p:spTree>
    <p:extLst>
      <p:ext uri="{BB962C8B-B14F-4D97-AF65-F5344CB8AC3E}">
        <p14:creationId xmlns:p14="http://schemas.microsoft.com/office/powerpoint/2010/main" val="150418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8AEB-9375-8616-77C2-6BC07CBB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GA4GH GKS Building Blocks</a:t>
            </a:r>
          </a:p>
        </p:txBody>
      </p:sp>
      <p:sp>
        <p:nvSpPr>
          <p:cNvPr id="20" name="S20"/>
          <p:cNvSpPr/>
          <p:nvPr/>
        </p:nvSpPr>
        <p:spPr>
          <a:xfrm>
            <a:off x="635000" y="1841500"/>
            <a:ext cx="6477000" cy="3937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txBody>
          <a:bodyPr wrap="square" lIns="54864" tIns="27432" rIns="54864" bIns="27432" anchor="ctr"/>
          <a:lstStyle/>
          <a:p>
            <a:endParaRPr lang="en-US"/>
          </a:p>
        </p:txBody>
      </p:sp>
      <p:sp>
        <p:nvSpPr>
          <p:cNvPr id="21" name="S21"/>
          <p:cNvSpPr/>
          <p:nvPr/>
        </p:nvSpPr>
        <p:spPr>
          <a:xfrm>
            <a:off x="736600" y="1968500"/>
            <a:ext cx="1841500" cy="355600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Statement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736600" y="2413000"/>
            <a:ext cx="60960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 dirty="0">
                <a:solidFill>
                  <a:srgbClr val="1565C0"/>
                </a:solidFill>
              </a:rPr>
              <a:t>classification    direction    strength</a:t>
            </a:r>
          </a:p>
          <a:p>
            <a:pPr algn="l">
              <a:spcBef>
                <a:spcPts val="200"/>
              </a:spcBef>
            </a:pPr>
            <a:r>
              <a:rPr lang="en-US" sz="1100" dirty="0">
                <a:solidFill>
                  <a:srgbClr val="2D3A4A"/>
                </a:solidFill>
              </a:rPr>
              <a:t>The outer container for all assertions — both individual SCVs and aggregates.</a:t>
            </a:r>
          </a:p>
        </p:txBody>
      </p:sp>
      <p:sp>
        <p:nvSpPr>
          <p:cNvPr id="23" name="S23"/>
          <p:cNvSpPr/>
          <p:nvPr/>
        </p:nvSpPr>
        <p:spPr>
          <a:xfrm>
            <a:off x="825500" y="3302000"/>
            <a:ext cx="6096000" cy="2222500"/>
          </a:xfrm>
          <a:prstGeom prst="roundRect">
            <a:avLst>
              <a:gd name="adj" fmla="val 5000"/>
            </a:avLst>
          </a:prstGeom>
          <a:solidFill>
            <a:srgbClr val="E0F2F1"/>
          </a:solidFill>
          <a:ln w="19050">
            <a:solidFill>
              <a:srgbClr val="00897B"/>
            </a:solidFill>
          </a:ln>
        </p:spPr>
        <p:txBody>
          <a:bodyPr wrap="square" lIns="54864" tIns="27432" rIns="54864" bIns="27432" anchor="ctr"/>
          <a:lstStyle/>
          <a:p>
            <a:endParaRPr lang="en-US"/>
          </a:p>
        </p:txBody>
      </p:sp>
      <p:sp>
        <p:nvSpPr>
          <p:cNvPr id="24" name="S24"/>
          <p:cNvSpPr/>
          <p:nvPr/>
        </p:nvSpPr>
        <p:spPr>
          <a:xfrm>
            <a:off x="990600" y="3429000"/>
            <a:ext cx="1841500" cy="330200"/>
          </a:xfrm>
          <a:prstGeom prst="roundRect">
            <a:avLst>
              <a:gd name="adj" fmla="val 5000"/>
            </a:avLst>
          </a:prstGeom>
          <a:solidFill>
            <a:srgbClr val="00897B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Proposition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990600" y="3835400"/>
            <a:ext cx="57658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 dirty="0">
                <a:solidFill>
                  <a:srgbClr val="00897B"/>
                </a:solidFill>
              </a:rPr>
              <a:t>What the statement is about</a:t>
            </a:r>
          </a:p>
          <a:p>
            <a:pPr algn="l">
              <a:spcBef>
                <a:spcPts val="300"/>
              </a:spcBef>
            </a:pPr>
            <a:r>
              <a:rPr lang="en-US" sz="1050" dirty="0">
                <a:solidFill>
                  <a:srgbClr val="2D3A4A"/>
                </a:solidFill>
              </a:rPr>
              <a:t>SCVs: variant + predicate + condition</a:t>
            </a:r>
          </a:p>
          <a:p>
            <a:pPr algn="l">
              <a:spcBef>
                <a:spcPts val="100"/>
              </a:spcBef>
            </a:pPr>
            <a:r>
              <a:rPr lang="en-US" sz="900" i="1" dirty="0">
                <a:solidFill>
                  <a:srgbClr val="78909C"/>
                </a:solidFill>
                <a:latin typeface="Consolas"/>
              </a:rPr>
              <a:t>e.g. KRAS isCausalFor Acute myeloid leukemia</a:t>
            </a:r>
          </a:p>
          <a:p>
            <a:pPr algn="l">
              <a:spcBef>
                <a:spcPts val="300"/>
              </a:spcBef>
            </a:pPr>
            <a:r>
              <a:rPr lang="en-US" sz="1050" dirty="0">
                <a:solidFill>
                  <a:srgbClr val="2D3A4A"/>
                </a:solidFill>
              </a:rPr>
              <a:t>Aggregates: variant + grouping qualifiers</a:t>
            </a:r>
          </a:p>
          <a:p>
            <a:pPr algn="l">
              <a:spcBef>
                <a:spcPts val="100"/>
              </a:spcBef>
            </a:pPr>
            <a:r>
              <a:rPr lang="en-US" sz="900" i="1" dirty="0">
                <a:solidFill>
                  <a:srgbClr val="78909C"/>
                </a:solidFill>
                <a:latin typeface="Consolas"/>
              </a:rPr>
              <a:t>e.g. 12582 hasAggregateClassification [Germline, Pathogenicity]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4953000" y="308610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US" sz="900" i="1" dirty="0">
                <a:solidFill>
                  <a:srgbClr val="78909C"/>
                </a:solidFill>
              </a:rPr>
              <a:t>▼ contains</a:t>
            </a:r>
          </a:p>
        </p:txBody>
      </p:sp>
      <p:sp>
        <p:nvSpPr>
          <p:cNvPr id="40" name="A40"/>
          <p:cNvSpPr/>
          <p:nvPr/>
        </p:nvSpPr>
        <p:spPr>
          <a:xfrm>
            <a:off x="7175500" y="3048000"/>
            <a:ext cx="571500" cy="254000"/>
          </a:xfrm>
          <a:prstGeom prst="rightArrow">
            <a:avLst/>
          </a:prstGeom>
          <a:solidFill>
            <a:srgbClr val="1565C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41"/>
          <p:cNvSpPr txBox="1"/>
          <p:nvPr/>
        </p:nvSpPr>
        <p:spPr>
          <a:xfrm>
            <a:off x="7086600" y="2692400"/>
            <a:ext cx="8255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i="1" dirty="0">
                <a:solidFill>
                  <a:srgbClr val="1565C0"/>
                </a:solidFill>
              </a:rPr>
              <a:t>references</a:t>
            </a:r>
          </a:p>
        </p:txBody>
      </p:sp>
      <p:sp>
        <p:nvSpPr>
          <p:cNvPr id="30" name="S30"/>
          <p:cNvSpPr/>
          <p:nvPr/>
        </p:nvSpPr>
        <p:spPr>
          <a:xfrm>
            <a:off x="7810500" y="1968500"/>
            <a:ext cx="3873500" cy="381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txBody>
          <a:bodyPr wrap="square" lIns="54864" tIns="27432" rIns="54864" bIns="27432" anchor="ctr"/>
          <a:lstStyle/>
          <a:p>
            <a:endParaRPr lang="en-US"/>
          </a:p>
        </p:txBody>
      </p:sp>
      <p:sp>
        <p:nvSpPr>
          <p:cNvPr id="31" name="S31"/>
          <p:cNvSpPr/>
          <p:nvPr/>
        </p:nvSpPr>
        <p:spPr>
          <a:xfrm>
            <a:off x="7975600" y="2095500"/>
            <a:ext cx="1968500" cy="330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EvidenceLine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7975600" y="2501900"/>
            <a:ext cx="3530600" cy="311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b="1" dirty="0">
                <a:solidFill>
                  <a:srgbClr val="2E7D32"/>
                </a:solidFill>
              </a:rPr>
              <a:t>Links evidence to a parent Statement</a:t>
            </a:r>
          </a:p>
          <a:p>
            <a:pPr algn="l">
              <a:spcBef>
                <a:spcPts val="400"/>
              </a:spcBef>
            </a:pPr>
            <a:r>
              <a:rPr lang="en-US" sz="1050" b="1" dirty="0">
                <a:solidFill>
                  <a:srgbClr val="2D3A4A"/>
                </a:solidFill>
              </a:rPr>
              <a:t>directionOfEvidenceProvided</a:t>
            </a:r>
          </a:p>
          <a:p>
            <a:pPr algn="l">
              <a:spcBef>
                <a:spcPts val="100"/>
              </a:spcBef>
            </a:pPr>
            <a:r>
              <a:rPr lang="en-US" sz="1000" dirty="0">
                <a:solidFill>
                  <a:srgbClr val="546E7A"/>
                </a:solidFill>
              </a:rPr>
              <a:t>supports / refutes</a:t>
            </a:r>
          </a:p>
          <a:p>
            <a:pPr algn="l">
              <a:spcBef>
                <a:spcPts val="400"/>
              </a:spcBef>
            </a:pPr>
            <a:r>
              <a:rPr lang="en-US" sz="1050" b="1" dirty="0">
                <a:solidFill>
                  <a:srgbClr val="2D3A4A"/>
                </a:solidFill>
              </a:rPr>
              <a:t>strengthOfEvidenceProvided</a:t>
            </a:r>
          </a:p>
          <a:p>
            <a:pPr algn="l">
              <a:spcBef>
                <a:spcPts val="100"/>
              </a:spcBef>
            </a:pPr>
            <a:r>
              <a:rPr lang="en-US" sz="1000" dirty="0">
                <a:solidFill>
                  <a:srgbClr val="2E7D32"/>
                </a:solidFill>
                <a:latin typeface="Consolas"/>
              </a:rPr>
              <a:t>contributing</a:t>
            </a:r>
            <a:r>
              <a:rPr lang="en-US" sz="1000" dirty="0">
                <a:solidFill>
                  <a:srgbClr val="546E7A"/>
                </a:solidFill>
              </a:rPr>
              <a:t> / </a:t>
            </a:r>
            <a:r>
              <a:rPr lang="en-US" sz="1000" dirty="0">
                <a:solidFill>
                  <a:srgbClr val="9E9E9E"/>
                </a:solidFill>
                <a:latin typeface="Consolas"/>
              </a:rPr>
              <a:t>non-contributing</a:t>
            </a:r>
          </a:p>
          <a:p>
            <a:pPr algn="l">
              <a:spcBef>
                <a:spcPts val="400"/>
              </a:spcBef>
            </a:pPr>
            <a:r>
              <a:rPr lang="en-US" sz="1050" b="1" dirty="0">
                <a:solidFill>
                  <a:srgbClr val="2D3A4A"/>
                </a:solidFill>
              </a:rPr>
              <a:t>evidenceItems[]</a:t>
            </a:r>
          </a:p>
          <a:p>
            <a:pPr algn="l">
              <a:spcBef>
                <a:spcPts val="100"/>
              </a:spcBef>
            </a:pPr>
            <a:r>
              <a:rPr lang="en-US" sz="1000" dirty="0">
                <a:solidFill>
                  <a:srgbClr val="546E7A"/>
                </a:solidFill>
              </a:rPr>
              <a:t>Child Statements (SCVs or nested aggregates)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571500" y="5943600"/>
            <a:ext cx="111125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300" i="1" dirty="0">
                <a:solidFill>
                  <a:srgbClr val="1565C0"/>
                </a:solidFill>
              </a:rPr>
              <a:t>“Statements all the way down” — aggregate Statements nest other Statements as evidence items via EvidenceLines</a:t>
            </a:r>
          </a:p>
        </p:txBody>
      </p:sp>
    </p:spTree>
    <p:extLst>
      <p:ext uri="{BB962C8B-B14F-4D97-AF65-F5344CB8AC3E}">
        <p14:creationId xmlns:p14="http://schemas.microsoft.com/office/powerpoint/2010/main" val="336607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06B3-B3E4-CA76-DCEC-B470C1BC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SCV Statements — The Atomic Unit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33F8F1-2CBE-1045-BDD6-FFDB03AF4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966406"/>
              </p:ext>
            </p:extLst>
          </p:nvPr>
        </p:nvGraphicFramePr>
        <p:xfrm>
          <a:off x="635000" y="1778000"/>
          <a:ext cx="1092200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11591974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405515584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Value (SCV001571657.2)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07274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SCV001571657.2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35754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Proposition Type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VariantPathogenicityProposition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2569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Predicate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isCausalFor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65604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Pathogenic (ACMG Guidelines, 2015)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61804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Direction /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supports / Definitive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698687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Subject Variant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clinvar:12582 (KRAS)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4649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Acute myeloid leukemia (MedGen, MONDO, Orphanet)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20892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Gene Context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KRAS (NCBI Gene 3845, HGNC 6407)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343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Review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No assertion criteria provided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3526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Submitter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Hematopathology, UT MD Anderson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4009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Eval 2018-03-30 / Created 2021-04-24 / Sub 2025-04-13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770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02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8358-2D77-9FD9-E19F-68C0D8AC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Two Assertion Groups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0727F-690A-434F-AA82-920D663F375D}"/>
              </a:ext>
            </a:extLst>
          </p:cNvPr>
          <p:cNvSpPr txBox="1"/>
          <p:nvPr/>
        </p:nvSpPr>
        <p:spPr>
          <a:xfrm>
            <a:off x="762000" y="3810000"/>
            <a:ext cx="10668000" cy="113107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Germline aggregates through all layers up to Group (Layer 4)</a:t>
            </a:r>
          </a:p>
          <a:p>
            <a:pPr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Somatic does </a:t>
            </a:r>
            <a:r>
              <a:rPr lang="en-US" sz="1500" b="1" dirty="0">
                <a:solidFill>
                  <a:srgbClr val="2D3A4A"/>
                </a:solidFill>
              </a:rPr>
              <a:t>not</a:t>
            </a:r>
            <a:r>
              <a:rPr lang="en-US" sz="1500" dirty="0">
                <a:solidFill>
                  <a:srgbClr val="2D3A4A"/>
                </a:solidFill>
              </a:rPr>
              <a:t> aggregate at the Group level — stops at Proposition Type (SCI or ONCO)</a:t>
            </a:r>
          </a:p>
          <a:p>
            <a:pPr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SCI evidence lines contain sub-proposition types (DIAG, PROG, TR) — these don’t impact aggregation</a:t>
            </a:r>
          </a:p>
          <a:p>
            <a:pPr algn="l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2D3A4A"/>
                </a:solidFill>
              </a:rPr>
              <a:t>VCV000012582 (KRAS) has Germline, Somatic-SCI, and Somatic-ONCO VCV statements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2FA8D4-D57D-A448-86CA-17BA2674B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620287"/>
              </p:ext>
            </p:extLst>
          </p:nvPr>
        </p:nvGraphicFramePr>
        <p:xfrm>
          <a:off x="762000" y="1905000"/>
          <a:ext cx="10668000" cy="1650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8885973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23438685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2908024396"/>
                    </a:ext>
                  </a:extLst>
                </a:gridCol>
              </a:tblGrid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Proposition Types (by display order)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375175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Germline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PATH, AFF, ASSOC, CDFS, CS, DR, NP, OTH, PROTECT, RF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455336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Somatic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SCI (DIAG, PROG, TR sub-types), ONCO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724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43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DBFD3-1743-0393-F67F-54D1B12AD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The 4-Layer Aggregation Architecture</a:t>
            </a:r>
          </a:p>
        </p:txBody>
      </p:sp>
      <p:sp>
        <p:nvSpPr>
          <p:cNvPr id="20" name="Layer0"/>
          <p:cNvSpPr/>
          <p:nvPr/>
        </p:nvSpPr>
        <p:spPr>
          <a:xfrm>
            <a:off x="762000" y="1727200"/>
            <a:ext cx="5334000" cy="6096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 w="0">
            <a:noFill/>
          </a:ln>
        </p:spPr>
        <p:txBody>
          <a:bodyPr wrap="square" lIns="54864" tIns="36576" rIns="54864" bIns="36576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Layer 4: Group Aggregation</a:t>
            </a:r>
          </a:p>
        </p:txBody>
      </p:sp>
      <p:sp>
        <p:nvSpPr>
          <p:cNvPr id="21" name="Desc0"/>
          <p:cNvSpPr txBox="1"/>
          <p:nvPr/>
        </p:nvSpPr>
        <p:spPr>
          <a:xfrm>
            <a:off x="6350000" y="1727200"/>
            <a:ext cx="5461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0" rIns="0" bIns="0" anchor="ctr"/>
          <a:lstStyle/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D3A4A"/>
                </a:solidFill>
              </a:rPr>
              <a:t>Germline only — combines proposition types into one top-level VCV</a:t>
            </a:r>
          </a:p>
          <a:p>
            <a:pPr algn="l"/>
            <a:r>
              <a:rPr lang="en-US" sz="1000" i="1" dirty="0">
                <a:solidFill>
                  <a:srgbClr val="78909C"/>
                </a:solidFill>
                <a:latin typeface="Consolas"/>
              </a:rPr>
              <a:t>VCV000012582.63-G</a:t>
            </a:r>
          </a:p>
        </p:txBody>
      </p:sp>
      <p:sp>
        <p:nvSpPr>
          <p:cNvPr id="22" name="Layer1"/>
          <p:cNvSpPr/>
          <p:nvPr/>
        </p:nvSpPr>
        <p:spPr>
          <a:xfrm>
            <a:off x="762000" y="2540000"/>
            <a:ext cx="5334000" cy="6096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 w="0">
            <a:noFill/>
          </a:ln>
        </p:spPr>
        <p:txBody>
          <a:bodyPr wrap="square" lIns="54864" tIns="36576" rIns="54864" bIns="36576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Layer 3: Proposition Aggregation</a:t>
            </a:r>
          </a:p>
        </p:txBody>
      </p:sp>
      <p:sp>
        <p:nvSpPr>
          <p:cNvPr id="23" name="Desc1"/>
          <p:cNvSpPr txBox="1"/>
          <p:nvPr/>
        </p:nvSpPr>
        <p:spPr>
          <a:xfrm>
            <a:off x="6350000" y="2540000"/>
            <a:ext cx="5461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0" rIns="0" bIns="0" anchor="ctr"/>
          <a:lstStyle/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D3A4A"/>
                </a:solidFill>
              </a:rPr>
              <a:t>Winner-takes-all by submission level rank</a:t>
            </a:r>
          </a:p>
          <a:p>
            <a:pPr algn="l"/>
            <a:r>
              <a:rPr lang="en-US" sz="1000" i="1" dirty="0">
                <a:solidFill>
                  <a:srgbClr val="78909C"/>
                </a:solidFill>
                <a:latin typeface="Consolas"/>
              </a:rPr>
              <a:t>VCV...-G-PATH</a:t>
            </a:r>
          </a:p>
        </p:txBody>
      </p:sp>
      <p:sp>
        <p:nvSpPr>
          <p:cNvPr id="24" name="Arrow1"/>
          <p:cNvSpPr/>
          <p:nvPr/>
        </p:nvSpPr>
        <p:spPr>
          <a:xfrm rot="16200000">
            <a:off x="3327400" y="2362200"/>
            <a:ext cx="203200" cy="152400"/>
          </a:xfrm>
          <a:prstGeom prst="triangle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Layer2"/>
          <p:cNvSpPr/>
          <p:nvPr/>
        </p:nvSpPr>
        <p:spPr>
          <a:xfrm>
            <a:off x="762000" y="3352800"/>
            <a:ext cx="5334000" cy="6096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 w="0">
            <a:noFill/>
          </a:ln>
        </p:spPr>
        <p:txBody>
          <a:bodyPr wrap="square" lIns="54864" tIns="36576" rIns="54864" bIns="36576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Layer 2: Tier Aggregation</a:t>
            </a:r>
          </a:p>
        </p:txBody>
      </p:sp>
      <p:sp>
        <p:nvSpPr>
          <p:cNvPr id="26" name="Desc2"/>
          <p:cNvSpPr txBox="1"/>
          <p:nvPr/>
        </p:nvSpPr>
        <p:spPr>
          <a:xfrm>
            <a:off x="6350000" y="3352800"/>
            <a:ext cx="5461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0" rIns="0" bIns="0" anchor="ctr"/>
          <a:lstStyle/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D3A4A"/>
                </a:solidFill>
              </a:rPr>
              <a:t>Somatic Clinical Impact only — separates Tier I/II/III/IV</a:t>
            </a:r>
          </a:p>
          <a:p>
            <a:pPr algn="l"/>
            <a:r>
              <a:rPr lang="en-US" sz="1000" i="1" dirty="0">
                <a:solidFill>
                  <a:srgbClr val="78909C"/>
                </a:solidFill>
                <a:latin typeface="Consolas"/>
              </a:rPr>
              <a:t>VCV...-S-SCI-CP-T1</a:t>
            </a:r>
          </a:p>
        </p:txBody>
      </p:sp>
      <p:sp>
        <p:nvSpPr>
          <p:cNvPr id="27" name="Arrow2"/>
          <p:cNvSpPr/>
          <p:nvPr/>
        </p:nvSpPr>
        <p:spPr>
          <a:xfrm rot="16200000">
            <a:off x="3327400" y="3175000"/>
            <a:ext cx="203200" cy="152400"/>
          </a:xfrm>
          <a:prstGeom prst="triangle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Layer3"/>
          <p:cNvSpPr/>
          <p:nvPr/>
        </p:nvSpPr>
        <p:spPr>
          <a:xfrm>
            <a:off x="762000" y="4165600"/>
            <a:ext cx="5334000" cy="609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0">
            <a:noFill/>
          </a:ln>
        </p:spPr>
        <p:txBody>
          <a:bodyPr wrap="square" lIns="54864" tIns="36576" rIns="54864" bIns="36576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Layer 1: Base Aggregation</a:t>
            </a:r>
          </a:p>
        </p:txBody>
      </p:sp>
      <p:sp>
        <p:nvSpPr>
          <p:cNvPr id="29" name="Desc3"/>
          <p:cNvSpPr txBox="1"/>
          <p:nvPr/>
        </p:nvSpPr>
        <p:spPr>
          <a:xfrm>
            <a:off x="6350000" y="4165600"/>
            <a:ext cx="5461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0" rIns="0" bIns="0" anchor="ctr"/>
          <a:lstStyle/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D3A4A"/>
                </a:solidFill>
              </a:rPr>
              <a:t>Groups SCVs by variant + group + prop type + sub level</a:t>
            </a:r>
          </a:p>
          <a:p>
            <a:pPr algn="l"/>
            <a:r>
              <a:rPr lang="en-US" sz="1000" i="1" dirty="0">
                <a:solidFill>
                  <a:srgbClr val="78909C"/>
                </a:solidFill>
                <a:latin typeface="Consolas"/>
              </a:rPr>
              <a:t>VCV...-G-PATH-CP</a:t>
            </a:r>
          </a:p>
        </p:txBody>
      </p:sp>
      <p:sp>
        <p:nvSpPr>
          <p:cNvPr id="30" name="Arrow3"/>
          <p:cNvSpPr/>
          <p:nvPr/>
        </p:nvSpPr>
        <p:spPr>
          <a:xfrm rot="16200000">
            <a:off x="3327400" y="3987800"/>
            <a:ext cx="203200" cy="152400"/>
          </a:xfrm>
          <a:prstGeom prst="triangle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Layer4"/>
          <p:cNvSpPr/>
          <p:nvPr/>
        </p:nvSpPr>
        <p:spPr>
          <a:xfrm>
            <a:off x="762000" y="4978400"/>
            <a:ext cx="5334000" cy="609600"/>
          </a:xfrm>
          <a:prstGeom prst="roundRect">
            <a:avLst>
              <a:gd name="adj" fmla="val 8000"/>
            </a:avLst>
          </a:prstGeom>
          <a:solidFill>
            <a:srgbClr val="78909C"/>
          </a:solidFill>
          <a:ln w="0">
            <a:noFill/>
          </a:ln>
        </p:spPr>
        <p:txBody>
          <a:bodyPr wrap="square" lIns="54864" tIns="36576" rIns="54864" bIns="36576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Individual SCVs</a:t>
            </a:r>
          </a:p>
        </p:txBody>
      </p:sp>
      <p:sp>
        <p:nvSpPr>
          <p:cNvPr id="32" name="Desc4"/>
          <p:cNvSpPr txBox="1"/>
          <p:nvPr/>
        </p:nvSpPr>
        <p:spPr>
          <a:xfrm>
            <a:off x="6350000" y="4978400"/>
            <a:ext cx="5461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0" rIns="0" bIns="0" anchor="ctr"/>
          <a:lstStyle/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D3A4A"/>
                </a:solidFill>
              </a:rPr>
              <a:t>Self-contained GA4GH Statements from submitters</a:t>
            </a:r>
          </a:p>
          <a:p>
            <a:pPr algn="l"/>
            <a:r>
              <a:rPr lang="en-US" sz="1000" i="1" dirty="0">
                <a:solidFill>
                  <a:srgbClr val="78909C"/>
                </a:solidFill>
                <a:latin typeface="Consolas"/>
              </a:rPr>
              <a:t>SCV001736991.1, ...</a:t>
            </a:r>
          </a:p>
        </p:txBody>
      </p:sp>
      <p:sp>
        <p:nvSpPr>
          <p:cNvPr id="33" name="Arrow4"/>
          <p:cNvSpPr/>
          <p:nvPr/>
        </p:nvSpPr>
        <p:spPr>
          <a:xfrm rot="16200000">
            <a:off x="3327400" y="4800600"/>
            <a:ext cx="203200" cy="152400"/>
          </a:xfrm>
          <a:prstGeom prst="triangle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Note"/>
          <p:cNvSpPr txBox="1"/>
          <p:nvPr/>
        </p:nvSpPr>
        <p:spPr>
          <a:xfrm>
            <a:off x="762000" y="5715000"/>
            <a:ext cx="11049000" cy="635000"/>
          </a:xfrm>
          <a:prstGeom prst="rect">
            <a:avLst/>
          </a:prstGeom>
          <a:solidFill>
            <a:srgbClr val="E8ECF0"/>
          </a:solidFill>
          <a:ln w="0">
            <a:noFill/>
          </a:ln>
        </p:spPr>
        <p:txBody>
          <a:bodyPr wrap="square" lIns="54864" tIns="36576" rIns="54864" bIns="36576" anchor="ctr"/>
          <a:lstStyle/>
          <a:p>
            <a:pPr algn="l"/>
            <a:r>
              <a:rPr lang="en-US" sz="1100" b="1" dirty="0">
                <a:solidFill>
                  <a:srgbClr val="1565C0"/>
                </a:solidFill>
              </a:rPr>
              <a:t>Germline (G): </a:t>
            </a:r>
            <a:r>
              <a:rPr lang="en-US" sz="1100" dirty="0">
                <a:solidFill>
                  <a:srgbClr val="2D3A4A"/>
                </a:solidFill>
              </a:rPr>
              <a:t>L1 → L3 → L4      </a:t>
            </a:r>
            <a:r>
              <a:rPr lang="en-US" sz="1100" b="1" dirty="0">
                <a:solidFill>
                  <a:srgbClr val="F57C00"/>
                </a:solidFill>
              </a:rPr>
              <a:t>Somatic — SCI (S-SCI): </a:t>
            </a:r>
            <a:r>
              <a:rPr lang="en-US" sz="1100" dirty="0">
                <a:solidFill>
                  <a:srgbClr val="2D3A4A"/>
                </a:solidFill>
              </a:rPr>
              <a:t>L1 → L2 → L3      </a:t>
            </a:r>
            <a:r>
              <a:rPr lang="en-US" sz="1100" b="1" dirty="0">
                <a:solidFill>
                  <a:srgbClr val="5E35B1"/>
                </a:solidFill>
              </a:rPr>
              <a:t>Somatic — ONCO (S-ONCO): </a:t>
            </a:r>
            <a:r>
              <a:rPr lang="en-US" sz="1100" dirty="0">
                <a:solidFill>
                  <a:srgbClr val="2D3A4A"/>
                </a:solidFill>
              </a:rPr>
              <a:t>L1 → L3</a:t>
            </a:r>
          </a:p>
          <a:p>
            <a:pPr algn="l">
              <a:spcBef>
                <a:spcPts val="200"/>
              </a:spcBef>
            </a:pPr>
            <a:r>
              <a:rPr lang="en-US" sz="1000" i="1" dirty="0">
                <a:solidFill>
                  <a:srgbClr val="78909C"/>
                </a:solidFill>
              </a:rPr>
              <a:t>Somatic does not aggregate at the Group level — SCI and ONCO each stop at their Proposition Type (Layer 3).</a:t>
            </a:r>
          </a:p>
        </p:txBody>
      </p:sp>
    </p:spTree>
    <p:extLst>
      <p:ext uri="{BB962C8B-B14F-4D97-AF65-F5344CB8AC3E}">
        <p14:creationId xmlns:p14="http://schemas.microsoft.com/office/powerpoint/2010/main" val="3827821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F535-09BB-D63B-5468-E743F09A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Layer 1 — Base Aggregation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762000" y="1625600"/>
            <a:ext cx="635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b="1" dirty="0">
                <a:solidFill>
                  <a:srgbClr val="1565C0"/>
                </a:solidFill>
              </a:rPr>
              <a:t>Grouping Key: Variant + Assertion Group + Proposition Type + Submission Level</a:t>
            </a:r>
          </a:p>
        </p:txBody>
      </p:sp>
      <p:sp>
        <p:nvSpPr>
          <p:cNvPr id="21" name="Box21"/>
          <p:cNvSpPr/>
          <p:nvPr/>
        </p:nvSpPr>
        <p:spPr>
          <a:xfrm>
            <a:off x="762000" y="2159000"/>
            <a:ext cx="4953000" cy="1524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36576" tIns="27432" rIns="36576" bIns="27432" anchor="ctr"/>
          <a:lstStyle/>
          <a:p>
            <a:pPr algn="ctr"/>
            <a:r>
              <a:rPr lang="en-US" sz="1400" b="1" dirty="0">
                <a:solidFill>
                  <a:srgbClr val="2E7D32"/>
                </a:solidFill>
              </a:rPr>
              <a:t>CP Bucket (criteria provided)</a:t>
            </a:r>
          </a:p>
          <a:p>
            <a:pPr algn="ctr"/>
            <a:r>
              <a:rPr lang="en-US" sz="1200" dirty="0">
                <a:solidFill>
                  <a:srgbClr val="2E7D32"/>
                </a:solidFill>
              </a:rPr>
              <a:t>13 SCVs → VCV000012582.63-G-PATH-CP</a:t>
            </a:r>
          </a:p>
          <a:p>
            <a:pPr algn="ctr"/>
            <a:r>
              <a:rPr lang="en-US" sz="1200" dirty="0">
                <a:solidFill>
                  <a:srgbClr val="2E7D32"/>
                </a:solidFill>
              </a:rPr>
              <a:t>All concordant: Pathogenic/Likely pathogenic</a:t>
            </a:r>
          </a:p>
        </p:txBody>
      </p:sp>
      <p:sp>
        <p:nvSpPr>
          <p:cNvPr id="22" name="Box22"/>
          <p:cNvSpPr/>
          <p:nvPr/>
        </p:nvSpPr>
        <p:spPr>
          <a:xfrm>
            <a:off x="6350000" y="2159000"/>
            <a:ext cx="4953000" cy="15240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27432" rIns="36576" bIns="27432" anchor="ctr"/>
          <a:lstStyle/>
          <a:p>
            <a:pPr algn="ctr"/>
            <a:r>
              <a:rPr lang="en-US" sz="1400" b="1" dirty="0">
                <a:solidFill>
                  <a:srgbClr val="546E7A"/>
                </a:solidFill>
              </a:rPr>
              <a:t>NOCP Bucket (no assertion criteria)</a:t>
            </a:r>
          </a:p>
          <a:p>
            <a:pPr algn="ctr"/>
            <a:r>
              <a:rPr lang="en-US" sz="1200" dirty="0">
                <a:solidFill>
                  <a:srgbClr val="546E7A"/>
                </a:solidFill>
              </a:rPr>
              <a:t>20 SCVs → VCV000012582.63-G-PATH-NOCP</a:t>
            </a:r>
          </a:p>
          <a:p>
            <a:pPr algn="ctr"/>
            <a:r>
              <a:rPr lang="en-US" sz="1200" dirty="0">
                <a:solidFill>
                  <a:srgbClr val="546E7A"/>
                </a:solidFill>
              </a:rPr>
              <a:t>All concordant: Pathogenic/Likely pathogenic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740400" y="2730500"/>
            <a:ext cx="609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 dirty="0">
                <a:solidFill>
                  <a:srgbClr val="78909C"/>
                </a:solidFill>
              </a:rPr>
              <a:t>↔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762000" y="3937000"/>
            <a:ext cx="10922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b="1" dirty="0">
                <a:solidFill>
                  <a:srgbClr val="2D3A4A"/>
                </a:solidFill>
              </a:rPr>
              <a:t>Each bucket produces:</a:t>
            </a:r>
          </a:p>
        </p:txBody>
      </p:sp>
      <p:sp>
        <p:nvSpPr>
          <p:cNvPr id="25" name="Box25"/>
          <p:cNvSpPr/>
          <p:nvPr/>
        </p:nvSpPr>
        <p:spPr>
          <a:xfrm>
            <a:off x="762000" y="4318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0">
            <a:noFill/>
          </a:ln>
        </p:spPr>
        <p:txBody>
          <a:bodyPr wrap="square" lIns="36576" tIns="27432" rIns="36576" bIns="27432" anchor="ctr"/>
          <a:lstStyle/>
          <a:p>
            <a:pPr algn="ctr"/>
            <a:r>
              <a:rPr lang="en-US" sz="1200" b="1" dirty="0">
                <a:solidFill>
                  <a:srgbClr val="2D3A4A"/>
                </a:solidFill>
              </a:rPr>
              <a:t>AggregateStatementProposition with qualifiers:</a:t>
            </a:r>
          </a:p>
          <a:p>
            <a:pPr algn="ctr"/>
            <a:r>
              <a:rPr lang="en-US" sz="1000" dirty="0">
                <a:solidFill>
                  <a:srgbClr val="2D3A4A"/>
                </a:solidFill>
              </a:rPr>
              <a:t>AssertionGroup, PropositionType, SubmissionLevel</a:t>
            </a:r>
          </a:p>
        </p:txBody>
      </p:sp>
      <p:sp>
        <p:nvSpPr>
          <p:cNvPr id="26" name="Box26"/>
          <p:cNvSpPr/>
          <p:nvPr/>
        </p:nvSpPr>
        <p:spPr>
          <a:xfrm>
            <a:off x="4572000" y="4318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0">
            <a:noFill/>
          </a:ln>
        </p:spPr>
        <p:txBody>
          <a:bodyPr wrap="square" lIns="36576" tIns="27432" rIns="36576" bIns="27432" anchor="ctr"/>
          <a:lstStyle/>
          <a:p>
            <a:pPr algn="ctr"/>
            <a:r>
              <a:rPr lang="en-US" sz="1200" b="1" dirty="0">
                <a:solidFill>
                  <a:srgbClr val="2D3A4A"/>
                </a:solidFill>
              </a:rPr>
              <a:t>A classification determined by</a:t>
            </a:r>
          </a:p>
          <a:p>
            <a:pPr algn="ctr"/>
            <a:r>
              <a:rPr lang="en-US" sz="1000" dirty="0">
                <a:solidFill>
                  <a:srgbClr val="2D3A4A"/>
                </a:solidFill>
              </a:rPr>
              <a:t>concordance/discordance rules</a:t>
            </a:r>
          </a:p>
        </p:txBody>
      </p:sp>
      <p:sp>
        <p:nvSpPr>
          <p:cNvPr id="27" name="Box27"/>
          <p:cNvSpPr/>
          <p:nvPr/>
        </p:nvSpPr>
        <p:spPr>
          <a:xfrm>
            <a:off x="8382000" y="4318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36576" tIns="27432" rIns="36576" bIns="27432" anchor="ctr"/>
          <a:lstStyle/>
          <a:p>
            <a:pPr algn="ctr"/>
            <a:r>
              <a:rPr lang="en-US" sz="1200" b="1" dirty="0">
                <a:solidFill>
                  <a:srgbClr val="2D3A4A"/>
                </a:solidFill>
              </a:rPr>
              <a:t>EvidenceLines pointing to</a:t>
            </a:r>
          </a:p>
          <a:p>
            <a:pPr algn="ctr"/>
            <a:r>
              <a:rPr lang="en-US" sz="1000" dirty="0">
                <a:solidFill>
                  <a:srgbClr val="2D3A4A"/>
                </a:solidFill>
              </a:rPr>
              <a:t>individual SCV IDs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762000" y="5588000"/>
            <a:ext cx="109220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i="1" dirty="0">
                <a:solidFill>
                  <a:srgbClr val="78909C"/>
                </a:solidFill>
              </a:rPr>
              <a:t>Example: VCV000012582 Germline Pathogenicity at Layer 1 produces two buckets — one for submissions with criteria (CP) and one without (NOCP). Conflict detection happens at this layer for PATH and ONCO proposition types.</a:t>
            </a:r>
          </a:p>
        </p:txBody>
      </p:sp>
    </p:spTree>
    <p:extLst>
      <p:ext uri="{BB962C8B-B14F-4D97-AF65-F5344CB8AC3E}">
        <p14:creationId xmlns:p14="http://schemas.microsoft.com/office/powerpoint/2010/main" val="1414576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CBD9-F1F0-3425-AC30-775CC678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5000"/>
          </a:xfrm>
        </p:spPr>
        <p:txBody>
          <a:bodyPr>
            <a:normAutofit/>
          </a:bodyPr>
          <a:lstStyle/>
          <a:p>
            <a:r>
              <a:rPr lang="en-US" sz="2400" b="1" dirty="0"/>
              <a:t>Layer 1 — Concordance &amp; Conflict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EFA31-161F-5DFC-B1B8-86A107F5C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86000"/>
            <a:ext cx="5181600" cy="4064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2E7D32"/>
                </a:solidFill>
              </a:rPr>
              <a:t>Concordant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i="1" dirty="0">
                <a:solidFill>
                  <a:srgbClr val="78909C"/>
                </a:solidFill>
              </a:rPr>
              <a:t>All SCVs agree on Proposition Direction bucket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Classification = concatenated unique labels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i="1" dirty="0">
                <a:solidFill>
                  <a:srgbClr val="78909C"/>
                </a:solidFill>
                <a:latin typeface="Consolas"/>
              </a:rPr>
              <a:t>  e.g. “Pathogenic/Likely pathogenic”</a:t>
            </a:r>
          </a:p>
          <a:p>
            <a:pPr algn="l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Aggregate review status → 2-star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i="1" dirty="0">
                <a:solidFill>
                  <a:srgbClr val="78909C"/>
                </a:solidFill>
              </a:rPr>
              <a:t>  “multiple submitters, no conflicts”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2E7D32"/>
                </a:solidFill>
              </a:rPr>
              <a:t>PATH Proposition Direction Buckets: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2D3A4A"/>
                </a:solidFill>
              </a:rPr>
              <a:t>  Supports: P, LP, PLP, LPLP, ERA, LRA</a:t>
            </a:r>
          </a:p>
          <a:p>
            <a:pPr algn="l">
              <a:spcBef>
                <a:spcPts val="50"/>
              </a:spcBef>
              <a:buNone/>
            </a:pPr>
            <a:r>
              <a:rPr lang="en-US" sz="1100" dirty="0">
                <a:solidFill>
                  <a:srgbClr val="2D3A4A"/>
                </a:solidFill>
              </a:rPr>
              <a:t>  Neutral: VUS, URA</a:t>
            </a:r>
          </a:p>
          <a:p>
            <a:pPr algn="l">
              <a:spcBef>
                <a:spcPts val="50"/>
              </a:spcBef>
              <a:buNone/>
            </a:pPr>
            <a:r>
              <a:rPr lang="en-US" sz="1100" dirty="0">
                <a:solidFill>
                  <a:srgbClr val="2D3A4A"/>
                </a:solidFill>
              </a:rPr>
              <a:t>  Disputes: B, LB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0CB20-236D-957B-5629-DC1E79487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86000"/>
            <a:ext cx="5181600" cy="4064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F57C00"/>
                </a:solidFill>
              </a:rPr>
              <a:t>Discordant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i="1" dirty="0">
                <a:solidFill>
                  <a:srgbClr val="78909C"/>
                </a:solidFill>
              </a:rPr>
              <a:t>SCVs disagree on Proposition Direction bucket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Classification = “Conflicting classifications of pathogenicity”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i="1" dirty="0">
                <a:solidFill>
                  <a:srgbClr val="78909C"/>
                </a:solidFill>
              </a:rPr>
              <a:t>  or “...of oncogenicity”</a:t>
            </a:r>
          </a:p>
          <a:p>
            <a:pPr algn="l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2D3A4A"/>
                </a:solidFill>
              </a:rPr>
              <a:t>Aggregate review status → 1-star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i="1" dirty="0">
                <a:solidFill>
                  <a:srgbClr val="78909C"/>
                </a:solidFill>
              </a:rPr>
              <a:t>  “criteria provided, conflicting classifications”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100" dirty="0">
                <a:solidFill>
                  <a:srgbClr val="2D3A4A"/>
                </a:solidFill>
              </a:rPr>
              <a:t>All other prop types use classification ordinal precedence directly — highest-tier wins, lower become non-contributing.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F57C00"/>
                </a:solidFill>
              </a:rPr>
              <a:t>ONCO Proposition Direction Buckets: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2D3A4A"/>
                </a:solidFill>
              </a:rPr>
              <a:t>  Supports: O, LO</a:t>
            </a:r>
          </a:p>
          <a:p>
            <a:pPr algn="l">
              <a:spcBef>
                <a:spcPts val="50"/>
              </a:spcBef>
              <a:buNone/>
            </a:pPr>
            <a:r>
              <a:rPr lang="en-US" sz="1100" dirty="0">
                <a:solidFill>
                  <a:srgbClr val="2D3A4A"/>
                </a:solidFill>
              </a:rPr>
              <a:t>  Neutral: VUS</a:t>
            </a:r>
          </a:p>
          <a:p>
            <a:pPr algn="l">
              <a:spcBef>
                <a:spcPts val="50"/>
              </a:spcBef>
              <a:buNone/>
            </a:pPr>
            <a:r>
              <a:rPr lang="en-US" sz="1100" dirty="0">
                <a:solidFill>
                  <a:srgbClr val="2D3A4A"/>
                </a:solidFill>
              </a:rPr>
              <a:t>  Disputes: B, LB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CD7545-614B-2141-A150-3EA49D31B9BB}"/>
              </a:ext>
            </a:extLst>
          </p:cNvPr>
          <p:cNvSpPr txBox="1"/>
          <p:nvPr/>
        </p:nvSpPr>
        <p:spPr>
          <a:xfrm>
            <a:off x="838200" y="1041400"/>
            <a:ext cx="10515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46E7A"/>
                </a:solidFill>
              </a:rPr>
              <a:t>Applies only to </a:t>
            </a:r>
            <a:r>
              <a:rPr lang="en-US" sz="1200" b="1" i="1" dirty="0">
                <a:solidFill>
                  <a:srgbClr val="546E7A"/>
                </a:solidFill>
              </a:rPr>
              <a:t>PATH</a:t>
            </a:r>
            <a:r>
              <a:rPr lang="en-US" sz="1200" i="1" dirty="0">
                <a:solidFill>
                  <a:srgbClr val="546E7A"/>
                </a:solidFill>
              </a:rPr>
              <a:t> and </a:t>
            </a:r>
            <a:r>
              <a:rPr lang="en-US" sz="1200" b="1" i="1" dirty="0">
                <a:solidFill>
                  <a:srgbClr val="546E7A"/>
                </a:solidFill>
              </a:rPr>
              <a:t>ONCO</a:t>
            </a:r>
            <a:r>
              <a:rPr lang="en-US" sz="1200" i="1" dirty="0">
                <a:solidFill>
                  <a:srgbClr val="546E7A"/>
                </a:solidFill>
              </a:rPr>
              <a:t> SCVs at two review-status tiers: 1-star </a:t>
            </a:r>
            <a:r>
              <a:rPr lang="en-US" sz="1200" b="1" i="1" dirty="0">
                <a:solidFill>
                  <a:srgbClr val="546E7A"/>
                </a:solidFill>
              </a:rPr>
              <a:t>CP</a:t>
            </a:r>
            <a:r>
              <a:rPr lang="en-US" sz="1200" i="1" dirty="0">
                <a:solidFill>
                  <a:srgbClr val="546E7A"/>
                </a:solidFill>
              </a:rPr>
              <a:t> (Criteria Provided) and 0-star </a:t>
            </a:r>
            <a:r>
              <a:rPr lang="en-US" sz="1200" b="1" i="1" dirty="0">
                <a:solidFill>
                  <a:srgbClr val="546E7A"/>
                </a:solidFill>
              </a:rPr>
              <a:t>NOCP</a:t>
            </a:r>
            <a:r>
              <a:rPr lang="en-US" sz="1200" i="1" dirty="0">
                <a:solidFill>
                  <a:srgbClr val="546E7A"/>
                </a:solidFill>
              </a:rPr>
              <a:t> (No Assertion Criteria Provided).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E7D32"/>
                </a:solidFill>
              </a:rPr>
              <a:t>Concordant → </a:t>
            </a:r>
            <a:r>
              <a:rPr lang="en-US" sz="1200" b="1" i="1" dirty="0">
                <a:solidFill>
                  <a:srgbClr val="2E7D32"/>
                </a:solidFill>
              </a:rPr>
              <a:t>2-star</a:t>
            </a:r>
            <a:r>
              <a:rPr lang="en-US" sz="1200" i="1" dirty="0">
                <a:solidFill>
                  <a:srgbClr val="2E7D32"/>
                </a:solidFill>
              </a:rPr>
              <a:t> “multiple submitters, no conflicts”</a:t>
            </a:r>
            <a:r>
              <a:rPr lang="en-US" sz="1200" i="1" dirty="0">
                <a:solidFill>
                  <a:srgbClr val="546E7A"/>
                </a:solidFill>
              </a:rPr>
              <a:t>   |   </a:t>
            </a:r>
            <a:r>
              <a:rPr lang="en-US" sz="1200" i="1" dirty="0">
                <a:solidFill>
                  <a:srgbClr val="F57C00"/>
                </a:solidFill>
              </a:rPr>
              <a:t>Discordant → </a:t>
            </a:r>
            <a:r>
              <a:rPr lang="en-US" sz="1200" b="1" i="1" dirty="0">
                <a:solidFill>
                  <a:srgbClr val="F57C00"/>
                </a:solidFill>
              </a:rPr>
              <a:t>1-star</a:t>
            </a:r>
            <a:r>
              <a:rPr lang="en-US" sz="1200" i="1" dirty="0">
                <a:solidFill>
                  <a:srgbClr val="F57C00"/>
                </a:solidFill>
              </a:rPr>
              <a:t> “criteria provided, conflicting classifications”</a:t>
            </a:r>
          </a:p>
          <a:p>
            <a:pPr algn="l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46E7A"/>
                </a:solidFill>
              </a:rPr>
              <a:t>Aggregate review status promotion applies only to the </a:t>
            </a:r>
            <a:r>
              <a:rPr lang="en-US" sz="1200" b="1" i="1" dirty="0">
                <a:solidFill>
                  <a:srgbClr val="546E7A"/>
                </a:solidFill>
              </a:rPr>
              <a:t>CP</a:t>
            </a:r>
            <a:r>
              <a:rPr lang="en-US" sz="1200" i="1" dirty="0">
                <a:solidFill>
                  <a:srgbClr val="546E7A"/>
                </a:solidFill>
              </a:rPr>
              <a:t> group. </a:t>
            </a:r>
            <a:r>
              <a:rPr lang="en-US" sz="1200" b="1" i="1" dirty="0">
                <a:solidFill>
                  <a:srgbClr val="546E7A"/>
                </a:solidFill>
              </a:rPr>
              <a:t>NOCP</a:t>
            </a:r>
            <a:r>
              <a:rPr lang="en-US" sz="1200" i="1" dirty="0">
                <a:solidFill>
                  <a:srgbClr val="546E7A"/>
                </a:solidFill>
              </a:rPr>
              <a:t> aggregations do not receive special review statuses for concordance or discordance.</a:t>
            </a:r>
          </a:p>
        </p:txBody>
      </p:sp>
    </p:spTree>
    <p:extLst>
      <p:ext uri="{BB962C8B-B14F-4D97-AF65-F5344CB8AC3E}">
        <p14:creationId xmlns:p14="http://schemas.microsoft.com/office/powerpoint/2010/main" val="221843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A7FE-0EC7-376B-3778-79FB6D31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Layer 2 — Tier Aggregation (SCI Only)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62000" y="1651000"/>
            <a:ext cx="1092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dirty="0">
                <a:solidFill>
                  <a:srgbClr val="2D3A4A"/>
                </a:solidFill>
              </a:rPr>
              <a:t>SCI uses tiered classifications (Tier I–IV). The highest tier drives the classification; lower tiers are preserved as non-contributing.</a:t>
            </a:r>
          </a:p>
        </p:txBody>
      </p:sp>
      <p:sp>
        <p:nvSpPr>
          <p:cNvPr id="21" name="S21"/>
          <p:cNvSpPr/>
          <p:nvPr/>
        </p:nvSpPr>
        <p:spPr>
          <a:xfrm>
            <a:off x="762000" y="2413000"/>
            <a:ext cx="5080000" cy="1397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400" b="1" dirty="0">
                <a:solidFill>
                  <a:srgbClr val="2E7D32"/>
                </a:solidFill>
              </a:rPr>
              <a:t>Tier I (Strong) — CONTRIBUTING</a:t>
            </a:r>
          </a:p>
          <a:p>
            <a:pPr algn="l"/>
            <a:r>
              <a:rPr lang="en-US" sz="1400" dirty="0">
                <a:solidFill>
                  <a:srgbClr val="2D3A4A"/>
                </a:solidFill>
              </a:rPr>
              <a:t>7 SCVs for 7 tumor types</a:t>
            </a:r>
          </a:p>
          <a:p>
            <a:pPr algn="l"/>
            <a:r>
              <a:rPr lang="en-US" sz="1100" dirty="0">
                <a:solidFill>
                  <a:srgbClr val="78909C"/>
                </a:solidFill>
              </a:rPr>
              <a:t>VCV000012582.63-S-SCI-CP-T1</a:t>
            </a:r>
          </a:p>
        </p:txBody>
      </p:sp>
      <p:sp>
        <p:nvSpPr>
          <p:cNvPr id="22" name="S22"/>
          <p:cNvSpPr/>
          <p:nvPr/>
        </p:nvSpPr>
        <p:spPr>
          <a:xfrm>
            <a:off x="762000" y="4064000"/>
            <a:ext cx="5080000" cy="13970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400" b="1" dirty="0">
                <a:solidFill>
                  <a:srgbClr val="78909C"/>
                </a:solidFill>
              </a:rPr>
              <a:t>Tier II (Potential) — NON-CONTRIBUTING</a:t>
            </a:r>
          </a:p>
          <a:p>
            <a:pPr algn="l"/>
            <a:r>
              <a:rPr lang="en-US" sz="1400" dirty="0">
                <a:solidFill>
                  <a:srgbClr val="2D3A4A"/>
                </a:solidFill>
              </a:rPr>
              <a:t>3 SCVs for 3 tumor types</a:t>
            </a:r>
          </a:p>
          <a:p>
            <a:pPr algn="l"/>
            <a:r>
              <a:rPr lang="en-US" sz="1100" dirty="0">
                <a:solidFill>
                  <a:srgbClr val="78909C"/>
                </a:solidFill>
              </a:rPr>
              <a:t>VCV000012582.63-S-SCI-CP-T2</a:t>
            </a:r>
          </a:p>
        </p:txBody>
      </p:sp>
      <p:sp>
        <p:nvSpPr>
          <p:cNvPr id="23" name="S23"/>
          <p:cNvSpPr/>
          <p:nvPr/>
        </p:nvSpPr>
        <p:spPr>
          <a:xfrm>
            <a:off x="6477000" y="2794000"/>
            <a:ext cx="4953000" cy="1651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400" b="1" dirty="0">
                <a:solidFill>
                  <a:srgbClr val="1565C0"/>
                </a:solidFill>
              </a:rPr>
              <a:t>Result at Layer 2:</a:t>
            </a:r>
          </a:p>
          <a:p>
            <a:pPr algn="l"/>
            <a:r>
              <a:rPr lang="en-US" sz="1200" dirty="0">
                <a:solidFill>
                  <a:srgbClr val="2D3A4A"/>
                </a:solidFill>
              </a:rPr>
              <a:t>"Tier I (Strong) for 7 tumor types</a:t>
            </a:r>
          </a:p>
          <a:p>
            <a:pPr algn="l"/>
            <a:r>
              <a:rPr lang="en-US" sz="1200" dirty="0">
                <a:solidFill>
                  <a:srgbClr val="2D3A4A"/>
                </a:solidFill>
              </a:rPr>
              <a:t>+lower levels of evidence for 3 other tumor types"</a:t>
            </a:r>
          </a:p>
          <a:p>
            <a:pPr algn="l"/>
            <a:r>
              <a:rPr lang="en-US" sz="1100" dirty="0">
                <a:solidFill>
                  <a:srgbClr val="78909C"/>
                </a:solidFill>
              </a:rPr>
              <a:t>Classification annotation reflects both tiers</a:t>
            </a:r>
          </a:p>
        </p:txBody>
      </p:sp>
      <p:sp>
        <p:nvSpPr>
          <p:cNvPr id="24" name="Arr1"/>
          <p:cNvSpPr/>
          <p:nvPr/>
        </p:nvSpPr>
        <p:spPr>
          <a:xfrm>
            <a:off x="5905500" y="3048000"/>
            <a:ext cx="508000" cy="203200"/>
          </a:xfrm>
          <a:prstGeom prst="rightArrow">
            <a:avLst/>
          </a:prstGeom>
          <a:solidFill>
            <a:srgbClr val="2E7D3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Arr2"/>
          <p:cNvSpPr/>
          <p:nvPr/>
        </p:nvSpPr>
        <p:spPr>
          <a:xfrm>
            <a:off x="5905500" y="4699000"/>
            <a:ext cx="508000" cy="203200"/>
          </a:xfrm>
          <a:prstGeom prst="rightArrow">
            <a:avLst/>
          </a:prstGeom>
          <a:solidFill>
            <a:srgbClr val="9E9E9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26"/>
          <p:cNvSpPr txBox="1"/>
          <p:nvPr/>
        </p:nvSpPr>
        <p:spPr>
          <a:xfrm>
            <a:off x="762000" y="5715000"/>
            <a:ext cx="10922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dirty="0">
                <a:solidFill>
                  <a:srgbClr val="78909C"/>
                </a:solidFill>
              </a:rPr>
              <a:t>For Germline and Oncogenicity, this layer is a pass-through. The tier dimension exists only in the SCI assertion space.</a:t>
            </a:r>
          </a:p>
        </p:txBody>
      </p:sp>
    </p:spTree>
    <p:extLst>
      <p:ext uri="{BB962C8B-B14F-4D97-AF65-F5344CB8AC3E}">
        <p14:creationId xmlns:p14="http://schemas.microsoft.com/office/powerpoint/2010/main" val="130184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6FEFE-7AC9-5D50-6F3C-DAA156CE8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Layer 3 — Proposition Aggregation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62000" y="1651000"/>
            <a:ext cx="10922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dirty="0">
                <a:solidFill>
                  <a:srgbClr val="2D3A4A"/>
                </a:solidFill>
              </a:rPr>
              <a:t>"Winner takes all" by submission level rank. Highest-ranked submission level drives the classification.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762000" y="2159000"/>
            <a:ext cx="508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b="1" dirty="0">
                <a:solidFill>
                  <a:srgbClr val="1565C0"/>
                </a:solidFill>
              </a:rPr>
              <a:t>Submission Level Rank:</a:t>
            </a:r>
          </a:p>
        </p:txBody>
      </p:sp>
      <p:sp>
        <p:nvSpPr>
          <p:cNvPr id="22" name="S22"/>
          <p:cNvSpPr/>
          <p:nvPr/>
        </p:nvSpPr>
        <p:spPr>
          <a:xfrm>
            <a:off x="762000" y="2514600"/>
            <a:ext cx="4572000" cy="406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400" b="1" dirty="0">
                <a:solidFill>
                  <a:srgbClr val="2E7D32"/>
                </a:solidFill>
              </a:rPr>
              <a:t>1. Criteria provided (CP)</a:t>
            </a:r>
          </a:p>
        </p:txBody>
      </p:sp>
      <p:sp>
        <p:nvSpPr>
          <p:cNvPr id="23" name="S23"/>
          <p:cNvSpPr/>
          <p:nvPr/>
        </p:nvSpPr>
        <p:spPr>
          <a:xfrm>
            <a:off x="762000" y="2997200"/>
            <a:ext cx="4572000" cy="406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400" dirty="0">
                <a:solidFill>
                  <a:srgbClr val="78909C"/>
                </a:solidFill>
              </a:rPr>
              <a:t>2. No assertion criteria (NOCP)</a:t>
            </a:r>
          </a:p>
        </p:txBody>
      </p:sp>
      <p:sp>
        <p:nvSpPr>
          <p:cNvPr id="24" name="S24"/>
          <p:cNvSpPr/>
          <p:nvPr/>
        </p:nvSpPr>
        <p:spPr>
          <a:xfrm>
            <a:off x="762000" y="3479800"/>
            <a:ext cx="4572000" cy="406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400" dirty="0">
                <a:solidFill>
                  <a:srgbClr val="9E9E9E"/>
                </a:solidFill>
              </a:rPr>
              <a:t>3. No classification (NOCL)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5969000" y="2159000"/>
            <a:ext cx="5842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b="1" dirty="0">
                <a:solidFill>
                  <a:srgbClr val="1565C0"/>
                </a:solidFill>
              </a:rPr>
              <a:t>Example: Germline Pathogenicity</a:t>
            </a:r>
          </a:p>
        </p:txBody>
      </p:sp>
      <p:sp>
        <p:nvSpPr>
          <p:cNvPr id="31" name="S31"/>
          <p:cNvSpPr/>
          <p:nvPr/>
        </p:nvSpPr>
        <p:spPr>
          <a:xfrm>
            <a:off x="5969000" y="2514600"/>
            <a:ext cx="5588000" cy="825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300" b="1" dirty="0">
                <a:solidFill>
                  <a:srgbClr val="2E7D32"/>
                </a:solidFill>
              </a:rPr>
              <a:t>VCV...-G-PATH-CP (13 SCVs with criteria)</a:t>
            </a:r>
          </a:p>
          <a:p>
            <a:pPr algn="l"/>
            <a:r>
              <a:rPr lang="en-US" sz="1200" dirty="0">
                <a:solidFill>
                  <a:srgbClr val="2E7D32"/>
                </a:solidFill>
              </a:rPr>
              <a:t>→ CONTRIBUTING — drives the Layer 3 classification</a:t>
            </a:r>
          </a:p>
        </p:txBody>
      </p:sp>
      <p:sp>
        <p:nvSpPr>
          <p:cNvPr id="32" name="S32"/>
          <p:cNvSpPr/>
          <p:nvPr/>
        </p:nvSpPr>
        <p:spPr>
          <a:xfrm>
            <a:off x="5969000" y="3492500"/>
            <a:ext cx="5588000" cy="8255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300" b="1" dirty="0">
                <a:solidFill>
                  <a:srgbClr val="78909C"/>
                </a:solidFill>
              </a:rPr>
              <a:t>VCV...-G-PATH-NOCP (20 SCVs without criteria)</a:t>
            </a:r>
          </a:p>
          <a:p>
            <a:pPr algn="l"/>
            <a:r>
              <a:rPr lang="en-US" sz="1200" dirty="0">
                <a:solidFill>
                  <a:srgbClr val="78909C"/>
                </a:solidFill>
              </a:rPr>
              <a:t>→ NON-CONTRIBUTING — preserved but outranked</a:t>
            </a:r>
          </a:p>
        </p:txBody>
      </p:sp>
      <p:sp>
        <p:nvSpPr>
          <p:cNvPr id="33" name="S33"/>
          <p:cNvSpPr/>
          <p:nvPr/>
        </p:nvSpPr>
        <p:spPr>
          <a:xfrm>
            <a:off x="762000" y="4572000"/>
            <a:ext cx="10795000" cy="952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en-US" sz="1500" b="1" dirty="0">
                <a:solidFill>
                  <a:srgbClr val="1565C0"/>
                </a:solidFill>
              </a:rPr>
              <a:t>Result: VCV000012582.63-G-PATH</a:t>
            </a:r>
          </a:p>
          <a:p>
            <a:pPr algn="ctr"/>
            <a:r>
              <a:rPr lang="en-US" sz="1300" dirty="0">
                <a:solidFill>
                  <a:srgbClr val="2D3A4A"/>
                </a:solidFill>
              </a:rPr>
              <a:t>Classification: Pathogenic/Likely pathogenic — driven by the CP evidence only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762000" y="5778500"/>
            <a:ext cx="1092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dirty="0">
                <a:solidFill>
                  <a:srgbClr val="78909C"/>
                </a:solidFill>
              </a:rPr>
              <a:t>The 20 NOCP SCVs remain accessible in the non-contributing evidence line for consumers who want the full picture.</a:t>
            </a:r>
          </a:p>
        </p:txBody>
      </p:sp>
    </p:spTree>
    <p:extLst>
      <p:ext uri="{BB962C8B-B14F-4D97-AF65-F5344CB8AC3E}">
        <p14:creationId xmlns:p14="http://schemas.microsoft.com/office/powerpoint/2010/main" val="1764709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439F-EBDC-9B2B-FEBB-76B0FA6C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Layer 4 — Group Aggregation (Germline Only)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62000" y="1625600"/>
            <a:ext cx="10922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dirty="0">
                <a:solidFill>
                  <a:srgbClr val="2D3A4A"/>
                </a:solidFill>
              </a:rPr>
              <a:t>Germline variants can have multiple proposition types simultaneously. Highest-precedence type drives the classification.</a:t>
            </a:r>
          </a:p>
        </p:txBody>
      </p:sp>
      <p:sp>
        <p:nvSpPr>
          <p:cNvPr id="21" name="S21"/>
          <p:cNvSpPr/>
          <p:nvPr/>
        </p:nvSpPr>
        <p:spPr>
          <a:xfrm>
            <a:off x="762000" y="22225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500" b="1" dirty="0">
                <a:solidFill>
                  <a:srgbClr val="2E7D32"/>
                </a:solidFill>
              </a:rPr>
              <a:t>Pathogenicity</a:t>
            </a:r>
          </a:p>
          <a:p>
            <a:pPr algn="l"/>
            <a:r>
              <a:rPr lang="en-US" sz="1200" dirty="0">
                <a:solidFill>
                  <a:srgbClr val="2E7D32"/>
                </a:solidFill>
              </a:rPr>
              <a:t>VCV...-G-PATH</a:t>
            </a:r>
          </a:p>
          <a:p>
            <a:pPr algn="l"/>
            <a:r>
              <a:rPr lang="en-US" sz="1100" b="1" dirty="0">
                <a:solidFill>
                  <a:srgbClr val="2E7D32"/>
                </a:solidFill>
              </a:rPr>
              <a:t>CONTRIBUTING</a:t>
            </a:r>
          </a:p>
        </p:txBody>
      </p:sp>
      <p:sp>
        <p:nvSpPr>
          <p:cNvPr id="22" name="S22"/>
          <p:cNvSpPr/>
          <p:nvPr/>
        </p:nvSpPr>
        <p:spPr>
          <a:xfrm>
            <a:off x="4381500" y="22225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500" b="1" dirty="0">
                <a:solidFill>
                  <a:srgbClr val="78909C"/>
                </a:solidFill>
              </a:rPr>
              <a:t>Association</a:t>
            </a:r>
          </a:p>
          <a:p>
            <a:pPr algn="l"/>
            <a:r>
              <a:rPr lang="en-US" sz="1200" dirty="0">
                <a:solidFill>
                  <a:srgbClr val="78909C"/>
                </a:solidFill>
              </a:rPr>
              <a:t>VCV...-G-ASSOC</a:t>
            </a:r>
          </a:p>
          <a:p>
            <a:pPr algn="l"/>
            <a:r>
              <a:rPr lang="en-US" sz="1100" b="1" dirty="0">
                <a:solidFill>
                  <a:srgbClr val="78909C"/>
                </a:solidFill>
              </a:rPr>
              <a:t>NON-CONTRIBUTING</a:t>
            </a:r>
          </a:p>
        </p:txBody>
      </p:sp>
      <p:sp>
        <p:nvSpPr>
          <p:cNvPr id="23" name="S23"/>
          <p:cNvSpPr/>
          <p:nvPr/>
        </p:nvSpPr>
        <p:spPr>
          <a:xfrm>
            <a:off x="8001000" y="22225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500" b="1" dirty="0">
                <a:solidFill>
                  <a:srgbClr val="9E9E9E"/>
                </a:solidFill>
              </a:rPr>
              <a:t>Not Provided</a:t>
            </a:r>
          </a:p>
          <a:p>
            <a:pPr algn="l"/>
            <a:r>
              <a:rPr lang="en-US" sz="1200" dirty="0">
                <a:solidFill>
                  <a:srgbClr val="9E9E9E"/>
                </a:solidFill>
              </a:rPr>
              <a:t>VCV...-G-NP</a:t>
            </a:r>
          </a:p>
          <a:p>
            <a:pPr algn="l"/>
            <a:r>
              <a:rPr lang="en-US" sz="1100" b="1" dirty="0">
                <a:solidFill>
                  <a:srgbClr val="9E9E9E"/>
                </a:solidFill>
              </a:rPr>
              <a:t>NON-CONTRIBUTING</a:t>
            </a:r>
          </a:p>
        </p:txBody>
      </p:sp>
      <p:sp>
        <p:nvSpPr>
          <p:cNvPr id="24" name="A24"/>
          <p:cNvSpPr/>
          <p:nvPr/>
        </p:nvSpPr>
        <p:spPr>
          <a:xfrm>
            <a:off x="2374900" y="3302000"/>
            <a:ext cx="203200" cy="317500"/>
          </a:xfrm>
          <a:prstGeom prst="downArrow">
            <a:avLst/>
          </a:prstGeom>
          <a:solidFill>
            <a:srgbClr val="2E7D3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A25"/>
          <p:cNvSpPr/>
          <p:nvPr/>
        </p:nvSpPr>
        <p:spPr>
          <a:xfrm>
            <a:off x="5994400" y="3302000"/>
            <a:ext cx="203200" cy="317500"/>
          </a:xfrm>
          <a:prstGeom prst="downArrow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A26"/>
          <p:cNvSpPr/>
          <p:nvPr/>
        </p:nvSpPr>
        <p:spPr>
          <a:xfrm>
            <a:off x="9613900" y="3302000"/>
            <a:ext cx="203200" cy="317500"/>
          </a:xfrm>
          <a:prstGeom prst="downArrow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S27"/>
          <p:cNvSpPr/>
          <p:nvPr/>
        </p:nvSpPr>
        <p:spPr>
          <a:xfrm>
            <a:off x="762000" y="3746500"/>
            <a:ext cx="10795000" cy="889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en-US" sz="1600" b="1" dirty="0">
                <a:solidFill>
                  <a:srgbClr val="1565C0"/>
                </a:solidFill>
              </a:rPr>
              <a:t>Result: VCV000012582.63-G</a:t>
            </a:r>
          </a:p>
          <a:p>
            <a:pPr algn="ctr"/>
            <a:r>
              <a:rPr lang="en-US" sz="1400" dirty="0">
                <a:solidFill>
                  <a:srgbClr val="2D3A4A"/>
                </a:solidFill>
              </a:rPr>
              <a:t>Classification: Pathogenic/Likely pathogenic — the single top-level Germline VCV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762000" y="4889500"/>
            <a:ext cx="10922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b="1" dirty="0">
                <a:solidFill>
                  <a:srgbClr val="1565C0"/>
                </a:solidFill>
              </a:rPr>
              <a:t>GC Classification Assembly Precedence Order:</a:t>
            </a:r>
          </a:p>
        </p:txBody>
      </p:sp>
      <p:sp>
        <p:nvSpPr>
          <p:cNvPr id="29" name="S29"/>
          <p:cNvSpPr/>
          <p:nvPr/>
        </p:nvSpPr>
        <p:spPr>
          <a:xfrm>
            <a:off x="762000" y="5303413"/>
            <a:ext cx="11176000" cy="251674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lang="en-US" sz="1200" dirty="0">
                <a:solidFill>
                  <a:srgbClr val="2D3A4A"/>
                </a:solidFill>
              </a:rPr>
              <a:t>PATH (10)  ›  AFF (20)  ›  ASSOC (30)  ›  CDFS (35)  ›  CS (40)  ›  DR (50)  ›  NP (60)  ›  OTH (70)  ›  PROTECT (80)  ›  RF (90)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762000" y="5842000"/>
            <a:ext cx="10922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400" dirty="0">
                <a:solidFill>
                  <a:srgbClr val="78909C"/>
                </a:solidFill>
              </a:rPr>
              <a:t>Somatic’s two proposition types (SCI and ONCO) each stop at Layer 3 — the Somatic group is not aggregated further. Only Germline needs group-level aggregation because it has multiple proposition types that must be combined into a single top-level VCV.</a:t>
            </a:r>
          </a:p>
        </p:txBody>
      </p:sp>
    </p:spTree>
    <p:extLst>
      <p:ext uri="{BB962C8B-B14F-4D97-AF65-F5344CB8AC3E}">
        <p14:creationId xmlns:p14="http://schemas.microsoft.com/office/powerpoint/2010/main" val="2144628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E0FD0-F563-CE27-15ED-8DB20E43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SCV References at Leaf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9E12D-28E5-49ED-4356-E553FF818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2D3A4A"/>
                </a:solidFill>
              </a:rPr>
              <a:t>SCVs are referenced by ID only — never inlined into the VCV payload</a:t>
            </a:r>
          </a:p>
          <a:p>
            <a:pPr algn="l"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2D3A4A"/>
                </a:solidFill>
              </a:rPr>
              <a:t>SCVs are independently-published GA4GH Statements</a:t>
            </a:r>
          </a:p>
          <a:p>
            <a:pPr algn="l"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2D3A4A"/>
                </a:solidFill>
              </a:rPr>
              <a:t>Consumers dereference SCV IDs to get full detail — conditions, genes, citations, submitter info</a:t>
            </a:r>
          </a:p>
          <a:p>
            <a:pPr algn="l"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2D3A4A"/>
                </a:solidFill>
              </a:rPr>
              <a:t>Keeps aggregate payloads lightweight; avoids duplication</a:t>
            </a:r>
          </a:p>
          <a:p>
            <a:pPr algn="l"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2D3A4A"/>
                </a:solidFill>
              </a:rPr>
              <a:t>SCV and VCV payloads are published as companion datasets</a:t>
            </a:r>
          </a:p>
          <a:p>
            <a:pPr algn="l"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2D3A4A"/>
                </a:solidFill>
              </a:rPr>
              <a:t>Each SCV ID includes version (e.g., “.2”) ensuring exact submission match</a:t>
            </a:r>
          </a:p>
        </p:txBody>
      </p:sp>
    </p:spTree>
    <p:extLst>
      <p:ext uri="{BB962C8B-B14F-4D97-AF65-F5344CB8AC3E}">
        <p14:creationId xmlns:p14="http://schemas.microsoft.com/office/powerpoint/2010/main" val="1535362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EA10-4448-3A88-09ED-AD8EB5710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b="1"/>
              <a:t>Contributing vs. Non-Contributing — The Bubbling Rules</a:t>
            </a:r>
          </a:p>
        </p:txBody>
      </p:sp>
      <p:sp>
        <p:nvSpPr>
          <p:cNvPr id="20" name="S20"/>
          <p:cNvSpPr/>
          <p:nvPr/>
        </p:nvSpPr>
        <p:spPr>
          <a:xfrm>
            <a:off x="762000" y="1841500"/>
            <a:ext cx="5461000" cy="1270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200" b="1" dirty="0">
                <a:solidFill>
                  <a:srgbClr val="2E7D32"/>
                </a:solidFill>
              </a:rPr>
              <a:t>Rule 1 — Layer 1: All concordant SCVs are contributing</a:t>
            </a:r>
          </a:p>
          <a:p>
            <a:pPr algn="l"/>
            <a:r>
              <a:rPr lang="en-US" sz="1200" dirty="0">
                <a:solidFill>
                  <a:srgbClr val="2D3A4A"/>
                </a:solidFill>
              </a:rPr>
              <a:t>13 CP Pathogenicity SCVs → all contributing</a:t>
            </a:r>
          </a:p>
          <a:p>
            <a:pPr algn="l"/>
            <a:r>
              <a:rPr lang="en-US" sz="1200" dirty="0">
                <a:solidFill>
                  <a:srgbClr val="2D3A4A"/>
                </a:solidFill>
              </a:rPr>
              <a:t>20 NOCP Pathogenicity SCVs → all contributing</a:t>
            </a:r>
          </a:p>
          <a:p>
            <a:pPr algn="l"/>
            <a:r>
              <a:rPr lang="en-US" sz="1100" dirty="0">
                <a:solidFill>
                  <a:srgbClr val="78909C"/>
                </a:solidFill>
              </a:rPr>
              <a:t>Within their bucket, everyone agrees</a:t>
            </a:r>
          </a:p>
        </p:txBody>
      </p:sp>
      <p:sp>
        <p:nvSpPr>
          <p:cNvPr id="21" name="S21"/>
          <p:cNvSpPr/>
          <p:nvPr/>
        </p:nvSpPr>
        <p:spPr>
          <a:xfrm>
            <a:off x="762000" y="3238500"/>
            <a:ext cx="5461000" cy="1270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200" b="1" dirty="0">
                <a:solidFill>
                  <a:srgbClr val="1565C0"/>
                </a:solidFill>
              </a:rPr>
              <a:t>Rule 2 — Layer 3: Submission level rank decides</a:t>
            </a:r>
          </a:p>
          <a:p>
            <a:pPr algn="l"/>
            <a:r>
              <a:rPr lang="en-US" sz="1200" dirty="0">
                <a:solidFill>
                  <a:srgbClr val="2D3A4A"/>
                </a:solidFill>
              </a:rPr>
              <a:t>CP outranks NOCP → CP is contributing</a:t>
            </a:r>
          </a:p>
          <a:p>
            <a:pPr algn="l"/>
            <a:r>
              <a:rPr lang="en-US" sz="1200" dirty="0">
                <a:solidFill>
                  <a:srgbClr val="2D3A4A"/>
                </a:solidFill>
              </a:rPr>
              <a:t>NOCP bucket becomes non-contributing</a:t>
            </a:r>
          </a:p>
          <a:p>
            <a:pPr algn="l"/>
            <a:r>
              <a:rPr lang="en-US" sz="1100" dirty="0">
                <a:solidFill>
                  <a:srgbClr val="78909C"/>
                </a:solidFill>
              </a:rPr>
              <a:t>Classification comes only from CP bucket</a:t>
            </a:r>
          </a:p>
        </p:txBody>
      </p:sp>
      <p:sp>
        <p:nvSpPr>
          <p:cNvPr id="22" name="S22"/>
          <p:cNvSpPr/>
          <p:nvPr/>
        </p:nvSpPr>
        <p:spPr>
          <a:xfrm>
            <a:off x="762000" y="4635500"/>
            <a:ext cx="5461000" cy="1270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200" b="1" dirty="0">
                <a:solidFill>
                  <a:srgbClr val="5E35B1"/>
                </a:solidFill>
              </a:rPr>
              <a:t>Rule 3 — Layer 4: Proposition precedence = display order</a:t>
            </a:r>
          </a:p>
          <a:p>
            <a:pPr algn="l">
              <a:spcBef>
                <a:spcPts val="200"/>
              </a:spcBef>
            </a:pPr>
            <a:r>
              <a:rPr lang="en-US" sz="1100" dirty="0">
                <a:solidFill>
                  <a:srgbClr val="2D3A4A"/>
                </a:solidFill>
              </a:rPr>
              <a:t>Precedence only determines the display order of propositions that reached the top submission level from Layer 3</a:t>
            </a:r>
          </a:p>
          <a:p>
            <a:pPr algn="l">
              <a:spcBef>
                <a:spcPts val="200"/>
              </a:spcBef>
            </a:pPr>
            <a:r>
              <a:rPr lang="en-US" sz="1100" dirty="0">
                <a:solidFill>
                  <a:srgbClr val="78909C"/>
                </a:solidFill>
              </a:rPr>
              <a:t>ASSOC and NP are non-contributing because they are NOCP — PATH is CP and outranks them at the submission level, not by proposition precedence</a:t>
            </a:r>
          </a:p>
        </p:txBody>
      </p:sp>
      <p:sp>
        <p:nvSpPr>
          <p:cNvPr id="23" name="S23"/>
          <p:cNvSpPr/>
          <p:nvPr/>
        </p:nvSpPr>
        <p:spPr>
          <a:xfrm>
            <a:off x="6477000" y="1841500"/>
            <a:ext cx="4953000" cy="4064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200" b="1" dirty="0">
                <a:solidFill>
                  <a:srgbClr val="F57C00"/>
                </a:solidFill>
              </a:rPr>
              <a:t>Critical Insight</a:t>
            </a:r>
          </a:p>
          <a:p>
            <a:pPr algn="l">
              <a:spcBef>
                <a:spcPts val="400"/>
              </a:spcBef>
            </a:pPr>
            <a:r>
              <a:rPr lang="en-US" sz="1200" dirty="0">
                <a:solidFill>
                  <a:srgbClr val="2D3A4A"/>
                </a:solidFill>
              </a:rPr>
              <a:t>Non-contributing status does NOT propagate downward.</a:t>
            </a:r>
          </a:p>
          <a:p>
            <a:pPr algn="l">
              <a:spcBef>
                <a:spcPts val="400"/>
              </a:spcBef>
            </a:pPr>
            <a:r>
              <a:rPr lang="en-US" sz="1200" dirty="0">
                <a:solidFill>
                  <a:srgbClr val="2D3A4A"/>
                </a:solidFill>
              </a:rPr>
              <a:t>The 20 NOCP SCVs are individually "contributing" within their own Layer 1 bucket, even though that entire bucket is "non-contributing" at Layer 3.</a:t>
            </a:r>
          </a:p>
          <a:p>
            <a:pPr algn="l">
              <a:spcBef>
                <a:spcPts val="400"/>
              </a:spcBef>
            </a:pPr>
            <a:r>
              <a:rPr lang="en-US" sz="1200" dirty="0">
                <a:solidFill>
                  <a:srgbClr val="2D3A4A"/>
                </a:solidFill>
              </a:rPr>
              <a:t>The strengthOfEvidenceProvided label lives on the EvidenceLine connecting parent to child, not on the child Statement itself.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B7E3563-7867-6143-805B-1F1B8D18E284}"/>
              </a:ext>
            </a:extLst>
          </p:cNvPr>
          <p:cNvSpPr/>
          <p:nvPr/>
        </p:nvSpPr>
        <p:spPr>
          <a:xfrm>
            <a:off x="762000" y="6121400"/>
            <a:ext cx="152400" cy="152400"/>
          </a:xfrm>
          <a:prstGeom prst="ellipse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91CF5-5355-4C42-B5AB-6E5DED7A75BF}"/>
              </a:ext>
            </a:extLst>
          </p:cNvPr>
          <p:cNvSpPr txBox="1"/>
          <p:nvPr/>
        </p:nvSpPr>
        <p:spPr>
          <a:xfrm>
            <a:off x="952500" y="60833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2E7D32"/>
                </a:solidFill>
              </a:rPr>
              <a:t>Contributing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8D955C-A55D-C049-9DC3-843FFBEDE147}"/>
              </a:ext>
            </a:extLst>
          </p:cNvPr>
          <p:cNvSpPr/>
          <p:nvPr/>
        </p:nvSpPr>
        <p:spPr>
          <a:xfrm>
            <a:off x="2222500" y="6121400"/>
            <a:ext cx="152400" cy="152400"/>
          </a:xfrm>
          <a:prstGeom prst="ellipse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1674C-0AD7-8B42-A847-F08E116B278A}"/>
              </a:ext>
            </a:extLst>
          </p:cNvPr>
          <p:cNvSpPr txBox="1"/>
          <p:nvPr/>
        </p:nvSpPr>
        <p:spPr>
          <a:xfrm>
            <a:off x="2413000" y="60833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9E9E9E"/>
                </a:solidFill>
              </a:rPr>
              <a:t>Non-contributing</a:t>
            </a:r>
          </a:p>
        </p:txBody>
      </p:sp>
    </p:spTree>
    <p:extLst>
      <p:ext uri="{BB962C8B-B14F-4D97-AF65-F5344CB8AC3E}">
        <p14:creationId xmlns:p14="http://schemas.microsoft.com/office/powerpoint/2010/main" val="2070437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63B3EDE-8D40-1D44-9924-38167DC1EAE1}"/>
              </a:ext>
            </a:extLst>
          </p:cNvPr>
          <p:cNvSpPr/>
          <p:nvPr/>
        </p:nvSpPr>
        <p:spPr>
          <a:xfrm>
            <a:off x="254000" y="4830763"/>
            <a:ext cx="11684000" cy="1460500"/>
          </a:xfrm>
          <a:prstGeom prst="roundRect">
            <a:avLst/>
          </a:prstGeom>
          <a:solidFill>
            <a:srgbClr val="E3F2FD"/>
          </a:solidFill>
          <a:ln w="12700" cap="flat" cmpd="sng" algn="ctr">
            <a:solidFill>
              <a:srgbClr val="1565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A7C22-0530-4DC8-DCD5-749247CB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Full Germline Walkthrough — VCV000012582.63-G</a:t>
            </a:r>
          </a:p>
        </p:txBody>
      </p:sp>
      <p:sp>
        <p:nvSpPr>
          <p:cNvPr id="20" name="N20"/>
          <p:cNvSpPr/>
          <p:nvPr/>
        </p:nvSpPr>
        <p:spPr>
          <a:xfrm>
            <a:off x="1125544" y="1987782"/>
            <a:ext cx="2222500" cy="613410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VCV..63-G  L4</a:t>
            </a:r>
          </a:p>
          <a:p>
            <a:pPr algn="ctr"/>
            <a:r>
              <a:rPr lang="en-US" sz="800" dirty="0">
                <a:solidFill>
                  <a:srgbClr val="FFFFFF"/>
                </a:solidFill>
              </a:rPr>
              <a:t>Path/Likely path</a:t>
            </a:r>
          </a:p>
        </p:txBody>
      </p:sp>
      <p:sp>
        <p:nvSpPr>
          <p:cNvPr id="21" name="N21"/>
          <p:cNvSpPr/>
          <p:nvPr/>
        </p:nvSpPr>
        <p:spPr>
          <a:xfrm>
            <a:off x="3665544" y="1801937"/>
            <a:ext cx="1968500" cy="52578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2E7D32"/>
                </a:solidFill>
              </a:rPr>
              <a:t>G-PATH  L3</a:t>
            </a:r>
          </a:p>
          <a:p>
            <a:pPr algn="l"/>
            <a:r>
              <a:rPr lang="en-US" sz="800" dirty="0">
                <a:solidFill>
                  <a:srgbClr val="2E7D32"/>
                </a:solidFill>
              </a:rPr>
              <a:t>Path/Likely path</a:t>
            </a:r>
          </a:p>
        </p:txBody>
      </p:sp>
      <p:cxnSp>
        <p:nvCxnSpPr>
          <p:cNvPr id="50" name="L50"/>
          <p:cNvCxnSpPr/>
          <p:nvPr/>
        </p:nvCxnSpPr>
        <p:spPr>
          <a:xfrm flipV="1">
            <a:off x="3348044" y="2059261"/>
            <a:ext cx="317500" cy="203200"/>
          </a:xfrm>
          <a:prstGeom prst="straightConnector1">
            <a:avLst/>
          </a:prstGeom>
          <a:ln w="19050">
            <a:solidFill>
              <a:srgbClr val="2E7D32"/>
            </a:solidFill>
          </a:ln>
        </p:spPr>
      </p:cxnSp>
      <p:sp>
        <p:nvSpPr>
          <p:cNvPr id="22" name="N22"/>
          <p:cNvSpPr/>
          <p:nvPr/>
        </p:nvSpPr>
        <p:spPr>
          <a:xfrm>
            <a:off x="3665544" y="2945602"/>
            <a:ext cx="1968500" cy="52578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78909C"/>
                </a:solidFill>
              </a:rPr>
              <a:t>G-ASSOC  L3</a:t>
            </a:r>
          </a:p>
          <a:p>
            <a:pPr algn="l"/>
            <a:r>
              <a:rPr lang="en-US" sz="800" dirty="0">
                <a:solidFill>
                  <a:srgbClr val="78909C"/>
                </a:solidFill>
              </a:rPr>
              <a:t>association</a:t>
            </a:r>
          </a:p>
        </p:txBody>
      </p:sp>
      <p:cxnSp>
        <p:nvCxnSpPr>
          <p:cNvPr id="51" name="L51"/>
          <p:cNvCxnSpPr/>
          <p:nvPr/>
        </p:nvCxnSpPr>
        <p:spPr>
          <a:xfrm>
            <a:off x="3348044" y="2287994"/>
            <a:ext cx="317500" cy="934719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23" name="N23"/>
          <p:cNvSpPr/>
          <p:nvPr/>
        </p:nvSpPr>
        <p:spPr>
          <a:xfrm>
            <a:off x="3665544" y="3803350"/>
            <a:ext cx="1968500" cy="5257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9E9E9E"/>
                </a:solidFill>
              </a:rPr>
              <a:t>G-NP  L3</a:t>
            </a:r>
          </a:p>
          <a:p>
            <a:pPr algn="l"/>
            <a:r>
              <a:rPr lang="en-US" sz="800" dirty="0">
                <a:solidFill>
                  <a:srgbClr val="9E9E9E"/>
                </a:solidFill>
              </a:rPr>
              <a:t>not provided</a:t>
            </a:r>
          </a:p>
        </p:txBody>
      </p:sp>
      <p:cxnSp>
        <p:nvCxnSpPr>
          <p:cNvPr id="52" name="L52"/>
          <p:cNvCxnSpPr/>
          <p:nvPr/>
        </p:nvCxnSpPr>
        <p:spPr>
          <a:xfrm>
            <a:off x="3348044" y="2287994"/>
            <a:ext cx="317500" cy="1811020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24" name="N24"/>
          <p:cNvSpPr/>
          <p:nvPr/>
        </p:nvSpPr>
        <p:spPr>
          <a:xfrm>
            <a:off x="5951544" y="1658979"/>
            <a:ext cx="1968500" cy="525780"/>
          </a:xfrm>
          <a:prstGeom prst="roundRect">
            <a:avLst>
              <a:gd name="adj" fmla="val 6000"/>
            </a:avLst>
          </a:prstGeom>
          <a:solidFill>
            <a:srgbClr val="C8E6C9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2E7D32"/>
                </a:solidFill>
              </a:rPr>
              <a:t>G-PATH-CP  L1</a:t>
            </a:r>
          </a:p>
          <a:p>
            <a:pPr algn="l"/>
            <a:r>
              <a:rPr lang="en-US" sz="800" dirty="0">
                <a:solidFill>
                  <a:srgbClr val="2E7D32"/>
                </a:solidFill>
              </a:rPr>
              <a:t>13 SCVs  ✓</a:t>
            </a:r>
          </a:p>
        </p:txBody>
      </p:sp>
      <p:cxnSp>
        <p:nvCxnSpPr>
          <p:cNvPr id="53" name="L53"/>
          <p:cNvCxnSpPr/>
          <p:nvPr/>
        </p:nvCxnSpPr>
        <p:spPr>
          <a:xfrm flipV="1">
            <a:off x="5634044" y="1916303"/>
            <a:ext cx="317500" cy="127000"/>
          </a:xfrm>
          <a:prstGeom prst="straightConnector1">
            <a:avLst/>
          </a:prstGeom>
          <a:ln w="19050">
            <a:solidFill>
              <a:srgbClr val="2E7D32"/>
            </a:solidFill>
          </a:ln>
        </p:spPr>
      </p:cxnSp>
      <p:sp>
        <p:nvSpPr>
          <p:cNvPr id="25" name="N25"/>
          <p:cNvSpPr/>
          <p:nvPr/>
        </p:nvSpPr>
        <p:spPr>
          <a:xfrm>
            <a:off x="5951544" y="2302290"/>
            <a:ext cx="1968500" cy="52578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78909C"/>
                </a:solidFill>
              </a:rPr>
              <a:t>G-PATH-NOCP  L1</a:t>
            </a:r>
          </a:p>
          <a:p>
            <a:pPr algn="l"/>
            <a:r>
              <a:rPr lang="en-US" sz="800" dirty="0">
                <a:solidFill>
                  <a:srgbClr val="78909C"/>
                </a:solidFill>
              </a:rPr>
              <a:t>20 SCVs</a:t>
            </a:r>
          </a:p>
        </p:txBody>
      </p:sp>
      <p:cxnSp>
        <p:nvCxnSpPr>
          <p:cNvPr id="54" name="L54"/>
          <p:cNvCxnSpPr/>
          <p:nvPr/>
        </p:nvCxnSpPr>
        <p:spPr>
          <a:xfrm>
            <a:off x="5634044" y="2059261"/>
            <a:ext cx="317500" cy="511175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26" name="N26"/>
          <p:cNvSpPr/>
          <p:nvPr/>
        </p:nvSpPr>
        <p:spPr>
          <a:xfrm>
            <a:off x="5951544" y="2945602"/>
            <a:ext cx="1968500" cy="52578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78909C"/>
                </a:solidFill>
              </a:rPr>
              <a:t>G-ASSOC-NOCP  L1</a:t>
            </a:r>
          </a:p>
          <a:p>
            <a:pPr algn="l"/>
            <a:r>
              <a:rPr lang="en-US" sz="800" dirty="0">
                <a:solidFill>
                  <a:srgbClr val="78909C"/>
                </a:solidFill>
              </a:rPr>
              <a:t>1 SCV</a:t>
            </a:r>
          </a:p>
        </p:txBody>
      </p:sp>
      <p:cxnSp>
        <p:nvCxnSpPr>
          <p:cNvPr id="55" name="L55"/>
          <p:cNvCxnSpPr/>
          <p:nvPr/>
        </p:nvCxnSpPr>
        <p:spPr>
          <a:xfrm>
            <a:off x="5634044" y="3202926"/>
            <a:ext cx="317500" cy="12700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27" name="N27"/>
          <p:cNvSpPr/>
          <p:nvPr/>
        </p:nvSpPr>
        <p:spPr>
          <a:xfrm>
            <a:off x="5951544" y="3803350"/>
            <a:ext cx="1968500" cy="5257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9E9E9E"/>
                </a:solidFill>
              </a:rPr>
              <a:t>G-NP-NOCL  L1</a:t>
            </a:r>
          </a:p>
          <a:p>
            <a:pPr algn="l"/>
            <a:r>
              <a:rPr lang="en-US" sz="800" dirty="0">
                <a:solidFill>
                  <a:srgbClr val="9E9E9E"/>
                </a:solidFill>
              </a:rPr>
              <a:t>1 SCV</a:t>
            </a:r>
          </a:p>
        </p:txBody>
      </p:sp>
      <p:cxnSp>
        <p:nvCxnSpPr>
          <p:cNvPr id="56" name="L56"/>
          <p:cNvCxnSpPr/>
          <p:nvPr/>
        </p:nvCxnSpPr>
        <p:spPr>
          <a:xfrm>
            <a:off x="5634044" y="4060675"/>
            <a:ext cx="317500" cy="12700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28" name="N28"/>
          <p:cNvSpPr/>
          <p:nvPr/>
        </p:nvSpPr>
        <p:spPr>
          <a:xfrm>
            <a:off x="8237544" y="1587500"/>
            <a:ext cx="1968500" cy="730249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2E7D32"/>
                </a:solidFill>
              </a:rPr>
              <a:t>13 Contributing SCVs</a:t>
            </a:r>
          </a:p>
          <a:p>
            <a:pPr algn="l"/>
            <a:r>
              <a:rPr lang="en-US" sz="700" dirty="0">
                <a:solidFill>
                  <a:srgbClr val="2D3A4A"/>
                </a:solidFill>
              </a:rPr>
              <a:t>SCV001736991.1</a:t>
            </a:r>
          </a:p>
          <a:p>
            <a:pPr algn="l"/>
            <a:r>
              <a:rPr lang="en-US" sz="700" dirty="0">
                <a:solidFill>
                  <a:srgbClr val="2D3A4A"/>
                </a:solidFill>
              </a:rPr>
              <a:t>SCV002525678.1  ...+11 more</a:t>
            </a:r>
          </a:p>
        </p:txBody>
      </p:sp>
      <p:cxnSp>
        <p:nvCxnSpPr>
          <p:cNvPr id="57" name="L57"/>
          <p:cNvCxnSpPr/>
          <p:nvPr/>
        </p:nvCxnSpPr>
        <p:spPr>
          <a:xfrm>
            <a:off x="7920044" y="1916303"/>
            <a:ext cx="317500" cy="25400"/>
          </a:xfrm>
          <a:prstGeom prst="straightConnector1">
            <a:avLst/>
          </a:prstGeom>
          <a:ln w="19050">
            <a:solidFill>
              <a:srgbClr val="2E7D32"/>
            </a:solidFill>
          </a:ln>
        </p:spPr>
      </p:cxnSp>
      <p:sp>
        <p:nvSpPr>
          <p:cNvPr id="29" name="N29"/>
          <p:cNvSpPr/>
          <p:nvPr/>
        </p:nvSpPr>
        <p:spPr>
          <a:xfrm>
            <a:off x="8237544" y="2445248"/>
            <a:ext cx="1968500" cy="657224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78909C"/>
                </a:solidFill>
              </a:rPr>
              <a:t>20 NOCP SCVs</a:t>
            </a:r>
          </a:p>
          <a:p>
            <a:pPr algn="l"/>
            <a:r>
              <a:rPr lang="en-US" sz="700" dirty="0">
                <a:solidFill>
                  <a:srgbClr val="546E7A"/>
                </a:solidFill>
              </a:rPr>
              <a:t>SCV000033659.5</a:t>
            </a:r>
          </a:p>
          <a:p>
            <a:pPr algn="l"/>
            <a:r>
              <a:rPr lang="en-US" sz="700" dirty="0">
                <a:solidFill>
                  <a:srgbClr val="546E7A"/>
                </a:solidFill>
              </a:rPr>
              <a:t>SCV001571657.2  ...+18 more</a:t>
            </a:r>
          </a:p>
        </p:txBody>
      </p:sp>
      <p:cxnSp>
        <p:nvCxnSpPr>
          <p:cNvPr id="58" name="L58"/>
          <p:cNvCxnSpPr/>
          <p:nvPr/>
        </p:nvCxnSpPr>
        <p:spPr>
          <a:xfrm>
            <a:off x="7920044" y="2559615"/>
            <a:ext cx="317500" cy="177800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30" name="N30"/>
          <p:cNvSpPr/>
          <p:nvPr/>
        </p:nvSpPr>
        <p:spPr>
          <a:xfrm>
            <a:off x="8237544" y="3160039"/>
            <a:ext cx="1524000" cy="408939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800" dirty="0">
                <a:solidFill>
                  <a:srgbClr val="78909C"/>
                </a:solidFill>
              </a:rPr>
              <a:t>SCV004035006.2</a:t>
            </a:r>
          </a:p>
        </p:txBody>
      </p:sp>
      <p:cxnSp>
        <p:nvCxnSpPr>
          <p:cNvPr id="59" name="L59"/>
          <p:cNvCxnSpPr/>
          <p:nvPr/>
        </p:nvCxnSpPr>
        <p:spPr>
          <a:xfrm>
            <a:off x="7920044" y="3202926"/>
            <a:ext cx="317500" cy="139700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31" name="N31"/>
          <p:cNvSpPr/>
          <p:nvPr/>
        </p:nvSpPr>
        <p:spPr>
          <a:xfrm>
            <a:off x="8237544" y="3846238"/>
            <a:ext cx="1524000" cy="40893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800" dirty="0">
                <a:solidFill>
                  <a:srgbClr val="9E9E9E"/>
                </a:solidFill>
              </a:rPr>
              <a:t>SCV002099547.2</a:t>
            </a:r>
          </a:p>
        </p:txBody>
      </p:sp>
      <p:cxnSp>
        <p:nvCxnSpPr>
          <p:cNvPr id="60" name="L60"/>
          <p:cNvCxnSpPr/>
          <p:nvPr/>
        </p:nvCxnSpPr>
        <p:spPr>
          <a:xfrm flipV="1">
            <a:off x="7920044" y="4046379"/>
            <a:ext cx="317500" cy="12700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6EC0725-7EB5-DD46-9C87-5F2535FFAADD}"/>
              </a:ext>
            </a:extLst>
          </p:cNvPr>
          <p:cNvSpPr txBox="1"/>
          <p:nvPr/>
        </p:nvSpPr>
        <p:spPr>
          <a:xfrm>
            <a:off x="444500" y="4894263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1565C0"/>
                </a:solidFill>
              </a:rPr>
              <a:t>Takeaway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6F172-BC49-244C-811D-DBA8CCBF6E8C}"/>
              </a:ext>
            </a:extLst>
          </p:cNvPr>
          <p:cNvSpPr txBox="1"/>
          <p:nvPr/>
        </p:nvSpPr>
        <p:spPr>
          <a:xfrm>
            <a:off x="444500" y="5211763"/>
            <a:ext cx="11303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D3A4A"/>
                </a:solidFill>
              </a:rPr>
              <a:t>Only the 13 CP Pathogenicity SCVs (</a:t>
            </a:r>
            <a:r>
              <a:rPr lang="en-US" sz="1100" b="1" dirty="0">
                <a:solidFill>
                  <a:srgbClr val="2E7D32"/>
                </a:solidFill>
              </a:rPr>
              <a:t>green path</a:t>
            </a:r>
            <a:r>
              <a:rPr lang="en-US" sz="1100" dirty="0">
                <a:solidFill>
                  <a:srgbClr val="2D3A4A"/>
                </a:solidFill>
              </a:rPr>
              <a:t>) bubble up as contributing to the top-level classification. But all 35 SCVs are reachable — each one’s local contribution status is preserved at its own level. The tree is navigable in both directions.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8B7A66-F89D-694D-9C09-7D6798A4D0EF}"/>
              </a:ext>
            </a:extLst>
          </p:cNvPr>
          <p:cNvSpPr/>
          <p:nvPr/>
        </p:nvSpPr>
        <p:spPr>
          <a:xfrm>
            <a:off x="8128000" y="4932363"/>
            <a:ext cx="152400" cy="152400"/>
          </a:xfrm>
          <a:prstGeom prst="ellipse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56C892-179F-AC4F-9651-C89C0CDFCC78}"/>
              </a:ext>
            </a:extLst>
          </p:cNvPr>
          <p:cNvSpPr txBox="1"/>
          <p:nvPr/>
        </p:nvSpPr>
        <p:spPr>
          <a:xfrm>
            <a:off x="8318500" y="4894263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2E7D32"/>
                </a:solidFill>
              </a:rPr>
              <a:t>Contributing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43045E-FE38-C549-94DA-4C1863F95C3B}"/>
              </a:ext>
            </a:extLst>
          </p:cNvPr>
          <p:cNvSpPr/>
          <p:nvPr/>
        </p:nvSpPr>
        <p:spPr>
          <a:xfrm>
            <a:off x="9461500" y="4932363"/>
            <a:ext cx="152400" cy="152400"/>
          </a:xfrm>
          <a:prstGeom prst="ellipse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55E505-72FA-DD45-94CD-777F41303D9E}"/>
              </a:ext>
            </a:extLst>
          </p:cNvPr>
          <p:cNvSpPr txBox="1"/>
          <p:nvPr/>
        </p:nvSpPr>
        <p:spPr>
          <a:xfrm>
            <a:off x="9652000" y="4894263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9E9E9E"/>
                </a:solidFill>
              </a:rPr>
              <a:t>Non-contributing</a:t>
            </a:r>
          </a:p>
        </p:txBody>
      </p:sp>
    </p:spTree>
    <p:extLst>
      <p:ext uri="{BB962C8B-B14F-4D97-AF65-F5344CB8AC3E}">
        <p14:creationId xmlns:p14="http://schemas.microsoft.com/office/powerpoint/2010/main" val="37681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CB35-11B0-EA1D-4BC6-FB8B0998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Why This Matters for Consumers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A1AAA2-A8AA-C14C-9212-AED97D891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539418"/>
              </p:ext>
            </p:extLst>
          </p:nvPr>
        </p:nvGraphicFramePr>
        <p:xfrm>
          <a:off x="635000" y="1778000"/>
          <a:ext cx="10922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4120987214"/>
                    </a:ext>
                  </a:extLst>
                </a:gridCol>
                <a:gridCol w="5842000">
                  <a:extLst>
                    <a:ext uri="{9D8B030D-6E8A-4147-A177-3AD203B41FA5}">
                      <a16:colId xmlns:a16="http://schemas.microsoft.com/office/drawing/2014/main" val="297006382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Consumer Question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How the Structure Answers It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2076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What's the consensus on this variant?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Top-level classification + direction + strength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86056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Which submissions drove that consensus?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Walk contributing evidence lines to leaf SCVs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89407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Are there dissenting or lower-quality views?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Walk non-contributing evidence lines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32958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How many independent labs agree?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Count contributing leaf SCVs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05568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Were there submissions without criteria?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Check for NOCP bucket as non-contributing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27064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2D3A4A"/>
                          </a:solidFill>
                        </a:rPr>
                        <a:t>What other assertion types exist?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Non-contributing evidence lines at Layer 4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75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111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4CE23C-9239-AC42-BAE5-248DC8AC5010}"/>
              </a:ext>
            </a:extLst>
          </p:cNvPr>
          <p:cNvSpPr/>
          <p:nvPr/>
        </p:nvSpPr>
        <p:spPr>
          <a:xfrm>
            <a:off x="254000" y="4441824"/>
            <a:ext cx="11684000" cy="1841500"/>
          </a:xfrm>
          <a:prstGeom prst="roundRect">
            <a:avLst/>
          </a:prstGeom>
          <a:solidFill>
            <a:srgbClr val="FFF3E0"/>
          </a:solidFill>
          <a:ln w="12700" cap="flat" cmpd="sng" algn="ctr">
            <a:solidFill>
              <a:srgbClr val="F57C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93F4F-7923-8D6D-CBCE-70DCFDCD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Somatic Clinical Impact — VCV000012582.63-S-sci</a:t>
            </a:r>
          </a:p>
        </p:txBody>
      </p:sp>
      <p:sp>
        <p:nvSpPr>
          <p:cNvPr id="20" name="N20"/>
          <p:cNvSpPr/>
          <p:nvPr/>
        </p:nvSpPr>
        <p:spPr>
          <a:xfrm>
            <a:off x="1111256" y="1972235"/>
            <a:ext cx="2349500" cy="701040"/>
          </a:xfrm>
          <a:prstGeom prst="roundRect">
            <a:avLst>
              <a:gd name="adj" fmla="val 6000"/>
            </a:avLst>
          </a:prstGeom>
          <a:solidFill>
            <a:srgbClr val="F57C0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S-SCI  L3</a:t>
            </a:r>
          </a:p>
          <a:p>
            <a:pPr algn="ctr"/>
            <a:r>
              <a:rPr lang="en-US" sz="800" dirty="0">
                <a:solidFill>
                  <a:srgbClr val="FFFFFF"/>
                </a:solidFill>
              </a:rPr>
              <a:t>Tier I for 7 + lower for 3</a:t>
            </a:r>
          </a:p>
        </p:txBody>
      </p:sp>
      <p:sp>
        <p:nvSpPr>
          <p:cNvPr id="21" name="N21"/>
          <p:cNvSpPr/>
          <p:nvPr/>
        </p:nvSpPr>
        <p:spPr>
          <a:xfrm>
            <a:off x="3778256" y="1822823"/>
            <a:ext cx="1905000" cy="5842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2E7D32"/>
                </a:solidFill>
              </a:rPr>
              <a:t>S-SCI-CP  L3</a:t>
            </a:r>
          </a:p>
          <a:p>
            <a:pPr algn="l"/>
            <a:r>
              <a:rPr lang="en-US" sz="800" dirty="0">
                <a:solidFill>
                  <a:srgbClr val="2E7D32"/>
                </a:solidFill>
              </a:rPr>
              <a:t>Contributing</a:t>
            </a:r>
          </a:p>
        </p:txBody>
      </p:sp>
      <p:cxnSp>
        <p:nvCxnSpPr>
          <p:cNvPr id="50" name="L50"/>
          <p:cNvCxnSpPr/>
          <p:nvPr/>
        </p:nvCxnSpPr>
        <p:spPr>
          <a:xfrm flipV="1">
            <a:off x="3460756" y="2121647"/>
            <a:ext cx="317500" cy="177800"/>
          </a:xfrm>
          <a:prstGeom prst="straightConnector1">
            <a:avLst/>
          </a:prstGeom>
          <a:ln w="19050">
            <a:solidFill>
              <a:srgbClr val="2E7D32"/>
            </a:solidFill>
          </a:ln>
        </p:spPr>
      </p:cxnSp>
      <p:sp>
        <p:nvSpPr>
          <p:cNvPr id="22" name="N22"/>
          <p:cNvSpPr/>
          <p:nvPr/>
        </p:nvSpPr>
        <p:spPr>
          <a:xfrm>
            <a:off x="3778256" y="3092823"/>
            <a:ext cx="1905000" cy="58420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78909C"/>
                </a:solidFill>
              </a:rPr>
              <a:t>S-SCI-NOCP  L3</a:t>
            </a:r>
          </a:p>
          <a:p>
            <a:pPr algn="l"/>
            <a:r>
              <a:rPr lang="en-US" sz="800" dirty="0">
                <a:solidFill>
                  <a:srgbClr val="78909C"/>
                </a:solidFill>
              </a:rPr>
              <a:t>Non-contributing</a:t>
            </a:r>
          </a:p>
        </p:txBody>
      </p:sp>
      <p:cxnSp>
        <p:nvCxnSpPr>
          <p:cNvPr id="51" name="L51"/>
          <p:cNvCxnSpPr/>
          <p:nvPr/>
        </p:nvCxnSpPr>
        <p:spPr>
          <a:xfrm>
            <a:off x="3460756" y="2330823"/>
            <a:ext cx="317500" cy="1036954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23" name="N23"/>
          <p:cNvSpPr/>
          <p:nvPr/>
        </p:nvSpPr>
        <p:spPr>
          <a:xfrm>
            <a:off x="6064256" y="1673411"/>
            <a:ext cx="2032000" cy="657224"/>
          </a:xfrm>
          <a:prstGeom prst="roundRect">
            <a:avLst>
              <a:gd name="adj" fmla="val 6000"/>
            </a:avLst>
          </a:prstGeom>
          <a:solidFill>
            <a:srgbClr val="C8E6C9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2E7D32"/>
                </a:solidFill>
              </a:rPr>
              <a:t>S-SCI-CP-T1  L1+2</a:t>
            </a:r>
          </a:p>
          <a:p>
            <a:pPr algn="l"/>
            <a:r>
              <a:rPr lang="en-US" sz="900" dirty="0">
                <a:solidFill>
                  <a:srgbClr val="2E7D32"/>
                </a:solidFill>
              </a:rPr>
              <a:t>Tier I (Strong)</a:t>
            </a:r>
          </a:p>
          <a:p>
            <a:pPr algn="l"/>
            <a:r>
              <a:rPr lang="en-US" sz="800" dirty="0">
                <a:solidFill>
                  <a:srgbClr val="2D3A4A"/>
                </a:solidFill>
              </a:rPr>
              <a:t>7 tumor types</a:t>
            </a:r>
          </a:p>
        </p:txBody>
      </p:sp>
      <p:cxnSp>
        <p:nvCxnSpPr>
          <p:cNvPr id="52" name="L52"/>
          <p:cNvCxnSpPr/>
          <p:nvPr/>
        </p:nvCxnSpPr>
        <p:spPr>
          <a:xfrm flipV="1">
            <a:off x="5683256" y="2002117"/>
            <a:ext cx="381000" cy="38100"/>
          </a:xfrm>
          <a:prstGeom prst="straightConnector1">
            <a:avLst/>
          </a:prstGeom>
          <a:ln w="19050">
            <a:solidFill>
              <a:srgbClr val="2E7D32"/>
            </a:solidFill>
          </a:ln>
        </p:spPr>
      </p:cxnSp>
      <p:sp>
        <p:nvSpPr>
          <p:cNvPr id="24" name="N24"/>
          <p:cNvSpPr/>
          <p:nvPr/>
        </p:nvSpPr>
        <p:spPr>
          <a:xfrm>
            <a:off x="6064256" y="2495176"/>
            <a:ext cx="2032000" cy="657224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78909C"/>
                </a:solidFill>
              </a:rPr>
              <a:t>S-SCI-CP-T2  L1+2</a:t>
            </a:r>
          </a:p>
          <a:p>
            <a:pPr algn="l"/>
            <a:r>
              <a:rPr lang="en-US" sz="900" dirty="0">
                <a:solidFill>
                  <a:srgbClr val="78909C"/>
                </a:solidFill>
              </a:rPr>
              <a:t>Tier II (Potential)</a:t>
            </a:r>
          </a:p>
          <a:p>
            <a:pPr algn="l"/>
            <a:r>
              <a:rPr lang="en-US" sz="800" dirty="0">
                <a:solidFill>
                  <a:srgbClr val="546E7A"/>
                </a:solidFill>
              </a:rPr>
              <a:t>3 tumor types</a:t>
            </a:r>
          </a:p>
        </p:txBody>
      </p:sp>
      <p:cxnSp>
        <p:nvCxnSpPr>
          <p:cNvPr id="53" name="L53"/>
          <p:cNvCxnSpPr/>
          <p:nvPr/>
        </p:nvCxnSpPr>
        <p:spPr>
          <a:xfrm>
            <a:off x="5683256" y="2196352"/>
            <a:ext cx="381000" cy="613410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25" name="N25"/>
          <p:cNvSpPr/>
          <p:nvPr/>
        </p:nvSpPr>
        <p:spPr>
          <a:xfrm>
            <a:off x="6064256" y="3316941"/>
            <a:ext cx="2032000" cy="58420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78909C"/>
                </a:solidFill>
              </a:rPr>
              <a:t>S-SCI-NOCP-T1  L1+2</a:t>
            </a:r>
          </a:p>
          <a:p>
            <a:pPr algn="l"/>
            <a:r>
              <a:rPr lang="en-US" sz="800" dirty="0">
                <a:solidFill>
                  <a:srgbClr val="546E7A"/>
                </a:solidFill>
              </a:rPr>
              <a:t>Tier I, Colorectal cancer</a:t>
            </a:r>
          </a:p>
        </p:txBody>
      </p:sp>
      <p:cxnSp>
        <p:nvCxnSpPr>
          <p:cNvPr id="54" name="L54"/>
          <p:cNvCxnSpPr/>
          <p:nvPr/>
        </p:nvCxnSpPr>
        <p:spPr>
          <a:xfrm>
            <a:off x="5683256" y="3391647"/>
            <a:ext cx="381000" cy="190500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26" name="N26"/>
          <p:cNvSpPr/>
          <p:nvPr/>
        </p:nvSpPr>
        <p:spPr>
          <a:xfrm>
            <a:off x="8477256" y="1524000"/>
            <a:ext cx="1968500" cy="803274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2E7D32"/>
                </a:solidFill>
              </a:rPr>
              <a:t>7 Contributing SCVs</a:t>
            </a:r>
          </a:p>
          <a:p>
            <a:pPr algn="l"/>
            <a:r>
              <a:rPr lang="en-US" sz="700" dirty="0">
                <a:solidFill>
                  <a:srgbClr val="2D3A4A"/>
                </a:solidFill>
              </a:rPr>
              <a:t>SCV007105432.1</a:t>
            </a:r>
          </a:p>
          <a:p>
            <a:pPr algn="l"/>
            <a:r>
              <a:rPr lang="en-US" sz="700" dirty="0">
                <a:solidFill>
                  <a:srgbClr val="2D3A4A"/>
                </a:solidFill>
              </a:rPr>
              <a:t>SCV007105520.1 ...+5 more</a:t>
            </a:r>
          </a:p>
        </p:txBody>
      </p:sp>
      <p:cxnSp>
        <p:nvCxnSpPr>
          <p:cNvPr id="55" name="L55"/>
          <p:cNvCxnSpPr/>
          <p:nvPr/>
        </p:nvCxnSpPr>
        <p:spPr>
          <a:xfrm flipV="1">
            <a:off x="8096256" y="1927411"/>
            <a:ext cx="381000" cy="63500"/>
          </a:xfrm>
          <a:prstGeom prst="straightConnector1">
            <a:avLst/>
          </a:prstGeom>
          <a:ln w="19050">
            <a:solidFill>
              <a:srgbClr val="2E7D32"/>
            </a:solidFill>
          </a:ln>
        </p:spPr>
      </p:cxnSp>
      <p:sp>
        <p:nvSpPr>
          <p:cNvPr id="27" name="N27"/>
          <p:cNvSpPr/>
          <p:nvPr/>
        </p:nvSpPr>
        <p:spPr>
          <a:xfrm>
            <a:off x="8477256" y="2495176"/>
            <a:ext cx="1714500" cy="58420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900" b="1" dirty="0">
                <a:solidFill>
                  <a:srgbClr val="78909C"/>
                </a:solidFill>
              </a:rPr>
              <a:t>3 NOCP SCVs</a:t>
            </a:r>
          </a:p>
          <a:p>
            <a:pPr algn="l"/>
            <a:r>
              <a:rPr lang="en-US" sz="700" dirty="0">
                <a:solidFill>
                  <a:srgbClr val="546E7A"/>
                </a:solidFill>
              </a:rPr>
              <a:t>SCV007105418.1...</a:t>
            </a:r>
          </a:p>
        </p:txBody>
      </p:sp>
      <p:cxnSp>
        <p:nvCxnSpPr>
          <p:cNvPr id="56" name="L56"/>
          <p:cNvCxnSpPr/>
          <p:nvPr/>
        </p:nvCxnSpPr>
        <p:spPr>
          <a:xfrm flipV="1">
            <a:off x="8096256" y="2794000"/>
            <a:ext cx="381000" cy="25400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28" name="N28"/>
          <p:cNvSpPr/>
          <p:nvPr/>
        </p:nvSpPr>
        <p:spPr>
          <a:xfrm>
            <a:off x="8477256" y="3361764"/>
            <a:ext cx="1714500" cy="43815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l"/>
            <a:r>
              <a:rPr lang="en-US" sz="800" dirty="0">
                <a:solidFill>
                  <a:srgbClr val="78909C"/>
                </a:solidFill>
              </a:rPr>
              <a:t>SCV006076878.1</a:t>
            </a:r>
          </a:p>
        </p:txBody>
      </p:sp>
      <p:cxnSp>
        <p:nvCxnSpPr>
          <p:cNvPr id="57" name="L57"/>
          <p:cNvCxnSpPr/>
          <p:nvPr/>
        </p:nvCxnSpPr>
        <p:spPr>
          <a:xfrm flipV="1">
            <a:off x="8096256" y="3585882"/>
            <a:ext cx="381000" cy="25400"/>
          </a:xfrm>
          <a:prstGeom prst="straightConnector1">
            <a:avLst/>
          </a:prstGeom>
          <a:ln w="12700">
            <a:solidFill>
              <a:srgbClr val="9E9E9E"/>
            </a:solidFill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C732C52-35C1-0E44-BD37-BAE8C50A6311}"/>
              </a:ext>
            </a:extLst>
          </p:cNvPr>
          <p:cNvSpPr txBox="1"/>
          <p:nvPr/>
        </p:nvSpPr>
        <p:spPr>
          <a:xfrm>
            <a:off x="444500" y="4505324"/>
            <a:ext cx="381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F57C00"/>
                </a:solidFill>
              </a:rPr>
              <a:t>Key Differences from Germline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BDBE39-E53E-4F4C-9AF8-0567392C6D99}"/>
              </a:ext>
            </a:extLst>
          </p:cNvPr>
          <p:cNvSpPr txBox="1"/>
          <p:nvPr/>
        </p:nvSpPr>
        <p:spPr>
          <a:xfrm>
            <a:off x="444500" y="4822824"/>
            <a:ext cx="55880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100" dirty="0">
                <a:solidFill>
                  <a:srgbClr val="2D3A4A"/>
                </a:solidFill>
              </a:rPr>
              <a:t>SCI is a proposition type under Somatic — Somatic is </a:t>
            </a:r>
            <a:r>
              <a:rPr lang="en-US" sz="1100" b="1" dirty="0">
                <a:solidFill>
                  <a:srgbClr val="2D3A4A"/>
                </a:solidFill>
              </a:rPr>
              <a:t>not</a:t>
            </a:r>
            <a:r>
              <a:rPr lang="en-US" sz="1100" dirty="0">
                <a:solidFill>
                  <a:srgbClr val="2D3A4A"/>
                </a:solidFill>
              </a:rPr>
              <a:t> aggregated at the Group level</a:t>
            </a:r>
          </a:p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100" dirty="0">
                <a:solidFill>
                  <a:srgbClr val="2D3A4A"/>
                </a:solidFill>
              </a:rPr>
              <a:t>Uses 3 layers (L1 → L2 → L3), stopping at Proposition Type</a:t>
            </a:r>
          </a:p>
          <a:p>
            <a:pPr algn="l">
              <a:buFont typeface="Arial"/>
              <a:buChar char="•"/>
            </a:pPr>
            <a:r>
              <a:rPr lang="en-US" sz="1100" dirty="0">
                <a:solidFill>
                  <a:srgbClr val="2D3A4A"/>
                </a:solidFill>
              </a:rPr>
              <a:t>Layer 2 (Tier) separates Tier I from Tier II — both preserved, highest wins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25AAD-751B-5548-A283-C53517209837}"/>
              </a:ext>
            </a:extLst>
          </p:cNvPr>
          <p:cNvSpPr txBox="1"/>
          <p:nvPr/>
        </p:nvSpPr>
        <p:spPr>
          <a:xfrm>
            <a:off x="6223000" y="4822824"/>
            <a:ext cx="55880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400"/>
              </a:spcAft>
              <a:buFont typeface="Arial"/>
              <a:buChar char="•"/>
            </a:pPr>
            <a:r>
              <a:rPr lang="en-US" sz="1100" dirty="0">
                <a:solidFill>
                  <a:srgbClr val="2D3A4A"/>
                </a:solidFill>
              </a:rPr>
              <a:t>SCI has sub-proposition types (DIAG, PROG, TR) in evidence lines — don’t impact aggregation</a:t>
            </a:r>
          </a:p>
          <a:p>
            <a:pPr algn="l">
              <a:buFont typeface="Arial"/>
              <a:buChar char="•"/>
            </a:pPr>
            <a:r>
              <a:rPr lang="en-US" sz="1100" dirty="0">
                <a:solidFill>
                  <a:srgbClr val="2D3A4A"/>
                </a:solidFill>
              </a:rPr>
              <a:t>“+lower levels of evidence for 3 other tumor types” annotation is machine-verifiable via the tree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B7E96C-184B-7449-8CD3-32F1B7DAB1AB}"/>
              </a:ext>
            </a:extLst>
          </p:cNvPr>
          <p:cNvSpPr/>
          <p:nvPr/>
        </p:nvSpPr>
        <p:spPr>
          <a:xfrm>
            <a:off x="8128000" y="4530724"/>
            <a:ext cx="152400" cy="152400"/>
          </a:xfrm>
          <a:prstGeom prst="ellipse">
            <a:avLst/>
          </a:prstGeom>
          <a:solidFill>
            <a:srgbClr val="2E7D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3C9CBF-8BFF-914E-8D4F-13F7BA033F69}"/>
              </a:ext>
            </a:extLst>
          </p:cNvPr>
          <p:cNvSpPr txBox="1"/>
          <p:nvPr/>
        </p:nvSpPr>
        <p:spPr>
          <a:xfrm>
            <a:off x="8318500" y="4492624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2E7D32"/>
                </a:solidFill>
              </a:rPr>
              <a:t>Contributing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D92594-E3D0-8147-A17D-D07671EB9305}"/>
              </a:ext>
            </a:extLst>
          </p:cNvPr>
          <p:cNvSpPr/>
          <p:nvPr/>
        </p:nvSpPr>
        <p:spPr>
          <a:xfrm>
            <a:off x="9461500" y="4530724"/>
            <a:ext cx="152400" cy="152400"/>
          </a:xfrm>
          <a:prstGeom prst="ellipse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6B6E1-5DE7-9042-A0AB-99EF48C558BC}"/>
              </a:ext>
            </a:extLst>
          </p:cNvPr>
          <p:cNvSpPr txBox="1"/>
          <p:nvPr/>
        </p:nvSpPr>
        <p:spPr>
          <a:xfrm>
            <a:off x="9652000" y="4492624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9E9E9E"/>
                </a:solidFill>
              </a:rPr>
              <a:t>Non-contributing</a:t>
            </a:r>
          </a:p>
        </p:txBody>
      </p:sp>
    </p:spTree>
    <p:extLst>
      <p:ext uri="{BB962C8B-B14F-4D97-AF65-F5344CB8AC3E}">
        <p14:creationId xmlns:p14="http://schemas.microsoft.com/office/powerpoint/2010/main" val="1224654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7FF7D-A5E5-E7C4-2834-36004ED0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The AggregateStatementProposition</a:t>
            </a:r>
          </a:p>
        </p:txBody>
      </p:sp>
      <p:sp>
        <p:nvSpPr>
          <p:cNvPr id="20" name="Code"/>
          <p:cNvSpPr/>
          <p:nvPr/>
        </p:nvSpPr>
        <p:spPr>
          <a:xfrm>
            <a:off x="508000" y="1714500"/>
            <a:ext cx="5080000" cy="355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54864" tIns="36576" rIns="54864" bIns="36576" anchor="t"/>
          <a:lstStyle/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{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"type": "AggregateStatementProposition",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"predicate": "hasAggregateClassification",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"subjectVariant": "12582",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"aggregateQualifier": [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{ "name": "AssertionGroup",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"value": "Germline" },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{ "name": "PropositionType",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"value": "Pathogenicity" },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{ "name": "SubmissionLevel",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"value": "criteria provided" }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]</a:t>
            </a:r>
          </a:p>
          <a:p>
            <a:pPr algn="l">
              <a:lnSpc>
                <a:spcPts val="12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}</a:t>
            </a:r>
          </a:p>
        </p:txBody>
      </p:sp>
      <p:sp>
        <p:nvSpPr>
          <p:cNvPr id="21" name="Thinning"/>
          <p:cNvSpPr txBox="1"/>
          <p:nvPr/>
        </p:nvSpPr>
        <p:spPr>
          <a:xfrm>
            <a:off x="5969000" y="1714500"/>
            <a:ext cx="5969000" cy="3556000"/>
          </a:xfrm>
          <a:prstGeom prst="rect">
            <a:avLst/>
          </a:prstGeom>
          <a:noFill/>
          <a:ln w="0">
            <a:noFill/>
          </a:ln>
        </p:spPr>
        <p:txBody>
          <a:bodyPr wrap="square" lIns="36576" tIns="0" rIns="0" bIns="0" anchor="t"/>
          <a:lstStyle/>
          <a:p>
            <a:pPr algn="l"/>
            <a:r>
              <a:rPr lang="en-US" sz="1200" b="1" dirty="0">
                <a:solidFill>
                  <a:srgbClr val="1565C0"/>
                </a:solidFill>
              </a:rPr>
              <a:t>Qualifier Thinning by Layer</a:t>
            </a:r>
          </a:p>
          <a:p>
            <a:pPr algn="l">
              <a:spcBef>
                <a:spcPts val="400"/>
              </a:spcBef>
            </a:pPr>
            <a:r>
              <a:rPr lang="en-US" sz="1100" b="1" dirty="0">
                <a:solidFill>
                  <a:srgbClr val="2D3A4A"/>
                </a:solidFill>
              </a:rPr>
              <a:t>Layer 1 (Base)</a:t>
            </a:r>
          </a:p>
          <a:p>
            <a:pPr algn="l"/>
            <a:r>
              <a:rPr lang="en-US" sz="1000" dirty="0">
                <a:solidFill>
                  <a:srgbClr val="546E7A"/>
                </a:solidFill>
              </a:rPr>
              <a:t>Group + PropType + SubLevel</a:t>
            </a:r>
          </a:p>
          <a:p>
            <a:pPr algn="l"/>
            <a:r>
              <a:rPr lang="en-US" sz="900" i="1" dirty="0">
                <a:solidFill>
                  <a:srgbClr val="78909C"/>
                </a:solidFill>
                <a:latin typeface="Consolas"/>
              </a:rPr>
              <a:t>...63-G-PATH-CP</a:t>
            </a:r>
          </a:p>
          <a:p>
            <a:pPr algn="l">
              <a:spcBef>
                <a:spcPts val="400"/>
              </a:spcBef>
            </a:pPr>
            <a:r>
              <a:rPr lang="en-US" sz="1100" b="1" dirty="0">
                <a:solidFill>
                  <a:srgbClr val="2D3A4A"/>
                </a:solidFill>
              </a:rPr>
              <a:t>Layer 1+2 (Tiered)</a:t>
            </a:r>
          </a:p>
          <a:p>
            <a:pPr algn="l"/>
            <a:r>
              <a:rPr lang="en-US" sz="1000" dirty="0">
                <a:solidFill>
                  <a:srgbClr val="546E7A"/>
                </a:solidFill>
              </a:rPr>
              <a:t>Group + PropType + SubLevel + Tier</a:t>
            </a:r>
          </a:p>
          <a:p>
            <a:pPr algn="l"/>
            <a:r>
              <a:rPr lang="en-US" sz="900" i="1" dirty="0">
                <a:solidFill>
                  <a:srgbClr val="78909C"/>
                </a:solidFill>
                <a:latin typeface="Consolas"/>
              </a:rPr>
              <a:t>...63-S-SCI-CP-T1</a:t>
            </a:r>
          </a:p>
          <a:p>
            <a:pPr algn="l">
              <a:spcBef>
                <a:spcPts val="400"/>
              </a:spcBef>
            </a:pPr>
            <a:r>
              <a:rPr lang="en-US" sz="1100" b="1" dirty="0">
                <a:solidFill>
                  <a:srgbClr val="2D3A4A"/>
                </a:solidFill>
              </a:rPr>
              <a:t>Layer 3 (Proposition)</a:t>
            </a:r>
          </a:p>
          <a:p>
            <a:pPr algn="l"/>
            <a:r>
              <a:rPr lang="en-US" sz="1000" dirty="0">
                <a:solidFill>
                  <a:srgbClr val="546E7A"/>
                </a:solidFill>
              </a:rPr>
              <a:t>Group + PropType</a:t>
            </a:r>
          </a:p>
          <a:p>
            <a:pPr algn="l"/>
            <a:r>
              <a:rPr lang="en-US" sz="900" i="1" dirty="0">
                <a:solidFill>
                  <a:srgbClr val="78909C"/>
                </a:solidFill>
                <a:latin typeface="Consolas"/>
              </a:rPr>
              <a:t>...63-G-PATH</a:t>
            </a:r>
          </a:p>
          <a:p>
            <a:pPr algn="l">
              <a:spcBef>
                <a:spcPts val="400"/>
              </a:spcBef>
            </a:pPr>
            <a:r>
              <a:rPr lang="en-US" sz="1100" b="1" dirty="0">
                <a:solidFill>
                  <a:srgbClr val="2D3A4A"/>
                </a:solidFill>
              </a:rPr>
              <a:t>Layer 4 (Group)</a:t>
            </a:r>
          </a:p>
          <a:p>
            <a:pPr algn="l"/>
            <a:r>
              <a:rPr lang="en-US" sz="1000" dirty="0">
                <a:solidFill>
                  <a:srgbClr val="546E7A"/>
                </a:solidFill>
              </a:rPr>
              <a:t>Group only</a:t>
            </a:r>
          </a:p>
          <a:p>
            <a:pPr algn="l"/>
            <a:r>
              <a:rPr lang="en-US" sz="900" i="1" dirty="0">
                <a:solidFill>
                  <a:srgbClr val="78909C"/>
                </a:solidFill>
                <a:latin typeface="Consolas"/>
              </a:rPr>
              <a:t>...63-G</a:t>
            </a:r>
          </a:p>
        </p:txBody>
      </p:sp>
      <p:sp>
        <p:nvSpPr>
          <p:cNvPr id="22" name="Note"/>
          <p:cNvSpPr txBox="1"/>
          <p:nvPr/>
        </p:nvSpPr>
        <p:spPr>
          <a:xfrm>
            <a:off x="508000" y="5461000"/>
            <a:ext cx="11430000" cy="762000"/>
          </a:xfrm>
          <a:prstGeom prst="rect">
            <a:avLst/>
          </a:prstGeom>
          <a:solidFill>
            <a:srgbClr val="E8ECF0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l"/>
            <a:r>
              <a:rPr lang="en-US" sz="1100" dirty="0">
                <a:solidFill>
                  <a:srgbClr val="2D3A4A"/>
                </a:solidFill>
              </a:rPr>
              <a:t>Distinct from SCV propositions — no condition, no causal predicate. The qualifiers encode the grouping dimensions so consumers know exactly what was aggregated. Each layer strips one qualifier as you ascend.</a:t>
            </a:r>
          </a:p>
        </p:txBody>
      </p:sp>
    </p:spTree>
    <p:extLst>
      <p:ext uri="{BB962C8B-B14F-4D97-AF65-F5344CB8AC3E}">
        <p14:creationId xmlns:p14="http://schemas.microsoft.com/office/powerpoint/2010/main" val="749443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6DBA-6BC7-04FF-9874-5219CD1C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ID Convention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E44B1E-7A13-3A47-8C71-6496755E7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754213"/>
              </p:ext>
            </p:extLst>
          </p:nvPr>
        </p:nvGraphicFramePr>
        <p:xfrm>
          <a:off x="635000" y="1905000"/>
          <a:ext cx="10922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4160327341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3246066132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134788293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Pattern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82774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Layer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VCV{id}.{ver}-{group}-{proptype}-{sublevel}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D3A4A"/>
                          </a:solidFill>
                          <a:latin typeface="Consolas"/>
                          <a:cs typeface="Consolas"/>
                        </a:rPr>
                        <a:t>VCV000012582.63-G-PATH-CP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125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Layer 1+2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...{sublevel}-{tier}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D3A4A"/>
                          </a:solidFill>
                          <a:latin typeface="Consolas"/>
                          <a:cs typeface="Consolas"/>
                        </a:rPr>
                        <a:t>VCV000012582.63-S-SCI-CP-T1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63647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Layer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VCV{id}.{ver}-{group}-{proptype}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D3A4A"/>
                          </a:solidFill>
                          <a:latin typeface="Consolas"/>
                          <a:cs typeface="Consolas"/>
                        </a:rPr>
                        <a:t>VCV000012582.63-G-PATH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0731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Layer 4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VCV{id}.{ver}-{group}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D3A4A"/>
                          </a:solidFill>
                          <a:latin typeface="Consolas"/>
                          <a:cs typeface="Consolas"/>
                        </a:rPr>
                        <a:t>VCV000012582.63-G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7517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5207BB-4FAB-7443-A846-6F3184AE2DDC}"/>
              </a:ext>
            </a:extLst>
          </p:cNvPr>
          <p:cNvSpPr txBox="1"/>
          <p:nvPr/>
        </p:nvSpPr>
        <p:spPr>
          <a:xfrm>
            <a:off x="635000" y="4826000"/>
            <a:ext cx="1092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78909C"/>
                </a:solidFill>
              </a:rPr>
              <a:t>IDs are hierarchical and self-documenting — consumers can infer the aggregation dimensions from the ID string itself.</a:t>
            </a:r>
          </a:p>
        </p:txBody>
      </p:sp>
    </p:spTree>
    <p:extLst>
      <p:ext uri="{BB962C8B-B14F-4D97-AF65-F5344CB8AC3E}">
        <p14:creationId xmlns:p14="http://schemas.microsoft.com/office/powerpoint/2010/main" val="2093170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82A9-7A4D-9CBE-F820-A6CFFE3B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Review Status Promotion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51A493-552B-6642-92C6-5884498AC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643544"/>
              </p:ext>
            </p:extLst>
          </p:nvPr>
        </p:nvGraphicFramePr>
        <p:xfrm>
          <a:off x="635000" y="1905000"/>
          <a:ext cx="10922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784906975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12417052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6039510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Input SCVs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Aggregated Result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Stars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5651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Multiple 1-star SCVs, concordant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Criteria provided, multiple submitters, no conflicts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★★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01086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Multiple 1-star SCVs, discordant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Criteria provided, conflicting classifications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★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176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Single 1-star SCV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Criteria provided, single submitter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18781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3-star or 4-star SCV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Stays at 3 or 4 stars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★★★/★★★★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5949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14C63F-C792-FE45-9D7F-DFB1756567FF}"/>
              </a:ext>
            </a:extLst>
          </p:cNvPr>
          <p:cNvSpPr txBox="1"/>
          <p:nvPr/>
        </p:nvSpPr>
        <p:spPr>
          <a:xfrm>
            <a:off x="635000" y="5080000"/>
            <a:ext cx="1092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D3A4A"/>
                </a:solidFill>
              </a:rPr>
              <a:t>Star rating promotion rewards independent agreement. Multiple labs reaching the same conclusion, with criteria, is stronger evidence than any single lab alone.</a:t>
            </a:r>
          </a:p>
        </p:txBody>
      </p:sp>
    </p:spTree>
    <p:extLst>
      <p:ext uri="{BB962C8B-B14F-4D97-AF65-F5344CB8AC3E}">
        <p14:creationId xmlns:p14="http://schemas.microsoft.com/office/powerpoint/2010/main" val="2818659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2464B-946F-4303-3474-42D4C021E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Design Decisions for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A06F-3134-96CC-BB27-C8569DDB6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565C0"/>
                </a:solidFill>
              </a:rPr>
              <a:t>Nesting depth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2D3A4A"/>
                </a:solidFill>
              </a:rPr>
              <a:t>4 layers for Germline, 3 for Somatic/ONCO. Right granularity, or should some layers be flattened?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565C0"/>
                </a:solidFill>
              </a:rPr>
              <a:t>Non-contributing evidence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2D3A4A"/>
                </a:solidFill>
              </a:rPr>
              <a:t>Currently preserved at every layer. Should simpler payloads be available?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565C0"/>
                </a:solidFill>
              </a:rPr>
              <a:t>AggregateStatementProposition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2D3A4A"/>
                </a:solidFill>
              </a:rPr>
              <a:t>Loses condition/predicate from individual SCVs. Acceptable trade-off?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565C0"/>
                </a:solidFill>
              </a:rPr>
              <a:t>Cross-group aggregation</a:t>
            </a:r>
          </a:p>
          <a:p>
            <a:pPr algn="l">
              <a:buNone/>
            </a:pPr>
            <a:r>
              <a:rPr lang="en-US" sz="1600" dirty="0">
                <a:solidFill>
                  <a:srgbClr val="2D3A4A"/>
                </a:solidFill>
              </a:rPr>
              <a:t>Germline, Somatic, and Oncogenicity are fully independent. Use cases for cross-group views?</a:t>
            </a:r>
          </a:p>
        </p:txBody>
      </p:sp>
    </p:spTree>
    <p:extLst>
      <p:ext uri="{BB962C8B-B14F-4D97-AF65-F5344CB8AC3E}">
        <p14:creationId xmlns:p14="http://schemas.microsoft.com/office/powerpoint/2010/main" val="1914347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C32D-F7D3-8A9A-25FA-31866422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What's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E62A6-ADCE-0ECF-0983-BA2F70F8B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First GA4GH Aggregate Statement implementation at scale: 4.5M+ variants, 6.8M+ SCVs
Feedback on this model will inform the GA4GH VA-Spec working group
Concrete asks:
    Review the example payloads
    Test with your downstream systems
    Propose changes to the aggregation model
Processing pipeline: 7-step workflow from variation identity through JSON assembly
Weekly </a:t>
            </a:r>
            <a:r>
              <a:rPr lang="en-US" sz="1600" dirty="0" err="1"/>
              <a:t>ClinVar</a:t>
            </a:r>
            <a:r>
              <a:rPr lang="en-US" sz="1600" dirty="0"/>
              <a:t> releases keep the dataset current</a:t>
            </a:r>
          </a:p>
        </p:txBody>
      </p:sp>
    </p:spTree>
    <p:extLst>
      <p:ext uri="{BB962C8B-B14F-4D97-AF65-F5344CB8AC3E}">
        <p14:creationId xmlns:p14="http://schemas.microsoft.com/office/powerpoint/2010/main" val="263246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05FDE-2839-A440-0E2D-5A51D091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Appendix A1: VCV000012582.63-G (Germline)</a:t>
            </a:r>
          </a:p>
        </p:txBody>
      </p:sp>
      <p:sp>
        <p:nvSpPr>
          <p:cNvPr id="20" name="JSON"/>
          <p:cNvSpPr/>
          <p:nvPr/>
        </p:nvSpPr>
        <p:spPr>
          <a:xfrm>
            <a:off x="508000" y="1587500"/>
            <a:ext cx="11303000" cy="4572000"/>
          </a:xfrm>
          <a:prstGeom prst="roundRect">
            <a:avLst>
              <a:gd name="adj" fmla="val 3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54864" tIns="36576" rIns="54864" bIns="36576" anchor="t"/>
          <a:lstStyle/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{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"id": "VCV000012582.63-G",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"classification": { "name": "Pathogenic/Likely pathogenic" },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"direction": "supports", "strength": "definitive",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"proposition": { "id": "12582.G", "predicate": "hasAggregateClassification",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"subjectVariant": "12582",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"aggregateQualifier": [{ "name": "AssertionGroup", "value": "Germline" }] },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"evidenceLines": [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{ "strengthOfEvidenceProvided": "contributing",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"evidenceItems": [{ "id": "VCV000012582.63-G-PATH",  // Layer 3: Pathogenicity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"evidenceLines": [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  { "strength": "contributing",   // Layer 1: CP (13 SCVs) },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  { "strength": "non-contributing" // Layer 1: NOCP (20 SCVs) }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] }] },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{ "strengthOfEvidenceProvided": "non-contributing",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"evidenceItems": [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{ "id": "VCV000012582.63-G-ASSOC" },  // Association (1 SCV)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{ "id": "VCV000012582.63-G-NP" }       // Not Provided (1 SCV)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] }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]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}</a:t>
            </a:r>
          </a:p>
        </p:txBody>
      </p:sp>
      <p:sp>
        <p:nvSpPr>
          <p:cNvPr id="21" name="Note"/>
          <p:cNvSpPr txBox="1"/>
          <p:nvPr/>
        </p:nvSpPr>
        <p:spPr>
          <a:xfrm>
            <a:off x="508000" y="6286500"/>
            <a:ext cx="11303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000" i="1" dirty="0">
                <a:solidFill>
                  <a:srgbClr val="78909C"/>
                </a:solidFill>
              </a:rPr>
              <a:t>Condensed view — full JSON includes all 35 SCV IDs, complete propositions, and nested evidence lines at every layer.</a:t>
            </a:r>
          </a:p>
        </p:txBody>
      </p:sp>
    </p:spTree>
    <p:extLst>
      <p:ext uri="{BB962C8B-B14F-4D97-AF65-F5344CB8AC3E}">
        <p14:creationId xmlns:p14="http://schemas.microsoft.com/office/powerpoint/2010/main" val="3908678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E8F3F-DEA4-B024-7001-0AE4C27A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Appendix A2: VCV000012582.63-S-SCI (Somatic Clinical Impact)</a:t>
            </a:r>
          </a:p>
        </p:txBody>
      </p:sp>
      <p:sp>
        <p:nvSpPr>
          <p:cNvPr id="20" name="JSON"/>
          <p:cNvSpPr/>
          <p:nvPr/>
        </p:nvSpPr>
        <p:spPr>
          <a:xfrm>
            <a:off x="508000" y="1587500"/>
            <a:ext cx="11303000" cy="4699000"/>
          </a:xfrm>
          <a:prstGeom prst="roundRect">
            <a:avLst>
              <a:gd name="adj" fmla="val 3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54864" tIns="36576" rIns="54864" bIns="36576" anchor="t"/>
          <a:lstStyle/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{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"id": "VCV000012582.63-S-SCI",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"classification": { "name": "Tier I (Strong) for 7 tumor types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+lower levels of evidence for 3 other tumor types" },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"direction": "supports", "strength": "definitive",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"proposition": { "id": "12582.S.SCI",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"aggregateQualifier": [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{ "name": "AssertionGroup", "value": "Somatic" },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{ "name": "PropositionType", "value": "Somatic Clinical Impact" } ] },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"evidenceLines": [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{ "strength": "contributing",  // CP bucket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"evidenceItems": [{ "id": "VCV...-S-SCI-CP",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"evidenceLines": [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  { "strength": "contributing",     // Tier I: 7 SCVs },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  { "strength": "non-contributing"  // Tier II: 3 SCVs }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] }] },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{ "strength": "non-contributing",  // NOCP bucket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"evidenceItems": [{ "id": "VCV...-S-SCI-NOCP",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  "evidenceLines": [{ "strength": "contributing",  // 1 SCV }]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    }] }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  ]</a:t>
            </a:r>
          </a:p>
          <a:p>
            <a:pPr algn="l">
              <a:lnSpc>
                <a:spcPts val="1050"/>
              </a:lnSpc>
            </a:pPr>
            <a:r>
              <a:rPr lang="en-US" sz="800" dirty="0">
                <a:solidFill>
                  <a:srgbClr val="2D3A4A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0752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3CA95-A9E5-7B7F-A9E1-729B2F0E1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Appendix A3: VCV000012582.63-S-ONCO (Oncogenicity)</a:t>
            </a:r>
          </a:p>
        </p:txBody>
      </p:sp>
      <p:sp>
        <p:nvSpPr>
          <p:cNvPr id="20" name="JSON"/>
          <p:cNvSpPr/>
          <p:nvPr/>
        </p:nvSpPr>
        <p:spPr>
          <a:xfrm>
            <a:off x="508000" y="1587500"/>
            <a:ext cx="11303000" cy="4318000"/>
          </a:xfrm>
          <a:prstGeom prst="roundRect">
            <a:avLst>
              <a:gd name="adj" fmla="val 3000"/>
            </a:avLst>
          </a:prstGeom>
          <a:solidFill>
            <a:srgbClr val="ECEFF1"/>
          </a:solidFill>
          <a:ln w="0">
            <a:noFill/>
          </a:ln>
        </p:spPr>
        <p:txBody>
          <a:bodyPr wrap="square" lIns="54864" tIns="36576" rIns="54864" bIns="36576" anchor="t"/>
          <a:lstStyle/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{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"id": "VCV000012582.63-S-ONCO",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"classification": { "name": "Oncogenic" },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"direction": "supports", "strength": "definitive",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"proposition": {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"id": "12582.S.ONCO",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"predicate": "hasAggregateClassification",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"subjectVariant": "12582",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"aggregateQualifier": [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{ "name": "AssertionGroup", "value": "Somatic" },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{ "name": "PropositionType", "value": "Oncogenicity" }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]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},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"evidenceLines": [{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"strengthOfEvidenceProvided": "contributing",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"evidenceItems": [{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"id": "VCV000012582.63-S-ONCO-CP",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"classification": { "name": "Oncogenic" },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"evidenceLines": [{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  "strengthOfEvidenceProvided": "contributing",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  "evidenceItems": [{ "id": "SCV005094257.2" }]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  }]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  }]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  }]</a:t>
            </a:r>
          </a:p>
          <a:p>
            <a:pPr algn="l">
              <a:lnSpc>
                <a:spcPts val="1100"/>
              </a:lnSpc>
            </a:pPr>
            <a:r>
              <a:rPr lang="en-US" sz="900" dirty="0">
                <a:solidFill>
                  <a:srgbClr val="2D3A4A"/>
                </a:solidFill>
                <a:latin typeface="Consolas"/>
              </a:rPr>
              <a:t>}</a:t>
            </a:r>
          </a:p>
        </p:txBody>
      </p:sp>
      <p:sp>
        <p:nvSpPr>
          <p:cNvPr id="21" name="Note"/>
          <p:cNvSpPr txBox="1"/>
          <p:nvPr/>
        </p:nvSpPr>
        <p:spPr>
          <a:xfrm>
            <a:off x="508000" y="6032500"/>
            <a:ext cx="11303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00" i="1" dirty="0">
                <a:solidFill>
                  <a:srgbClr val="78909C"/>
                </a:solidFill>
              </a:rPr>
              <a:t>The simplest case: single SCV, 2 layers (L1 → L3). No tier aggregation, no group aggregation, no non-contributing evidence lines.</a:t>
            </a:r>
          </a:p>
        </p:txBody>
      </p:sp>
    </p:spTree>
    <p:extLst>
      <p:ext uri="{BB962C8B-B14F-4D97-AF65-F5344CB8AC3E}">
        <p14:creationId xmlns:p14="http://schemas.microsoft.com/office/powerpoint/2010/main" val="2741103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8ADF0-DB5E-C6A7-F22A-98B6D58C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Appendix A4: Classification Precedence Tables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6C0D48-9898-754F-84A4-7AF2036A4A2F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2006600"/>
          <a:ext cx="3683000" cy="4699002"/>
        </p:xfrm>
        <a:graphic>
          <a:graphicData uri="http://schemas.openxmlformats.org/drawingml/2006/table">
            <a:tbl>
              <a:tblPr/>
              <a:tblGrid>
                <a:gridCol w="2222500">
                  <a:extLst>
                    <a:ext uri="{9D8B030D-6E8A-4147-A177-3AD203B41FA5}">
                      <a16:colId xmlns:a16="http://schemas.microsoft.com/office/drawing/2014/main" val="27946438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1351552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3354567601"/>
                    </a:ext>
                  </a:extLst>
                </a:gridCol>
              </a:tblGrid>
              <a:tr h="33564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Abbr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Ord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52467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Pathogenic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11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788081592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Pathogenic, Low Pen.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PLP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10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326187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Established Risk Allele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ERA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9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104177034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Path/Likely Path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P/LP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8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998711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Likely Pathogenic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LP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7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438223740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Likely Path, Low Pen.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LPLP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6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755443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Likely Risk Allele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LRA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5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905718937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Uncertain Significance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VUS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4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846628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Uncertain Risk Allele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URA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3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445146388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Benign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2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607257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Likely Benign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LB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1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834092125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Benign/Likely Benign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B/LB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0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281921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Conflicting Data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CDFS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-1</a:t>
                      </a:r>
                    </a:p>
                  </a:txBody>
                  <a:tcPr marT="40822" marB="40822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9998643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D852A2-7423-C94D-A397-1C75F51807B3}"/>
              </a:ext>
            </a:extLst>
          </p:cNvPr>
          <p:cNvGraphicFramePr>
            <a:graphicFrameLocks noGrp="1"/>
          </p:cNvGraphicFramePr>
          <p:nvPr/>
        </p:nvGraphicFramePr>
        <p:xfrm>
          <a:off x="4381500" y="2006600"/>
          <a:ext cx="3683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09647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047743099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117654040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Abbr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Ord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81522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Oncogenic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14348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Likely Oncogenic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LO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65698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Onco/Likely Onco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O/LO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00471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Uncertain Significance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VUS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30375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Benign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2768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Likely Benign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LB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0049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Benign/Likely Benign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B/LB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0065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B5D9AE-5A2E-B140-8904-9A142C6953E7}"/>
              </a:ext>
            </a:extLst>
          </p:cNvPr>
          <p:cNvGraphicFramePr>
            <a:graphicFrameLocks noGrp="1"/>
          </p:cNvGraphicFramePr>
          <p:nvPr/>
        </p:nvGraphicFramePr>
        <p:xfrm>
          <a:off x="8255000" y="2006600"/>
          <a:ext cx="3683000" cy="23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329280967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42467966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62913284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57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Ord</a:t>
                      </a:r>
                    </a:p>
                  </a:txBody>
                  <a:tcPr>
                    <a:solidFill>
                      <a:srgbClr val="F57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80709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Tier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Strong clinical significance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9785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Tier II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Potential clinical significance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37742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Tier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Uncertain significance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67837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Tier IV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Benign/Likely benign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9473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F1C5EB2-46B5-374A-93F4-7157B22DCD70}"/>
              </a:ext>
            </a:extLst>
          </p:cNvPr>
          <p:cNvSpPr txBox="1"/>
          <p:nvPr/>
        </p:nvSpPr>
        <p:spPr>
          <a:xfrm>
            <a:off x="508000" y="17526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rgbClr val="1565C0"/>
                </a:solidFill>
              </a:rPr>
              <a:t>PATH (Pathogenicity)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B0EE7-B205-A343-89C8-4C188805955C}"/>
              </a:ext>
            </a:extLst>
          </p:cNvPr>
          <p:cNvSpPr txBox="1"/>
          <p:nvPr/>
        </p:nvSpPr>
        <p:spPr>
          <a:xfrm>
            <a:off x="4381500" y="17526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rgbClr val="00897B"/>
                </a:solidFill>
              </a:rPr>
              <a:t>ONCO (Oncogenicity)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B648B0-C834-7B4E-A958-4BDBFCCA947A}"/>
              </a:ext>
            </a:extLst>
          </p:cNvPr>
          <p:cNvSpPr txBox="1"/>
          <p:nvPr/>
        </p:nvSpPr>
        <p:spPr>
          <a:xfrm>
            <a:off x="8255000" y="17526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rgbClr val="F57C00"/>
                </a:solidFill>
              </a:rPr>
              <a:t>SCI (Somatic Clinical Impact)</a:t>
            </a:r>
          </a:p>
        </p:txBody>
      </p:sp>
    </p:spTree>
    <p:extLst>
      <p:ext uri="{BB962C8B-B14F-4D97-AF65-F5344CB8AC3E}">
        <p14:creationId xmlns:p14="http://schemas.microsoft.com/office/powerpoint/2010/main" val="1609045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61A5-5B94-C567-5F9C-AAB97E05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Appendix A5: Review Status Hierarchies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7B9AF3-9C9C-5E4B-9742-103F21086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275188"/>
              </p:ext>
            </p:extLst>
          </p:nvPr>
        </p:nvGraphicFramePr>
        <p:xfrm>
          <a:off x="508000" y="1778000"/>
          <a:ext cx="113030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235648100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555013984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2650600146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Review Status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Stars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How Achieved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85243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Practice Guideline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From 4-star SCV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22438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Reviewed by Expert Panel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★★★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From 3-star SCV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20702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Criteria Provided, Multiple, No Conflicts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Multiple 1-star concordant SCVs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84390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Criteria Provided, Multiple Submitters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★★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Multiple 1-star SCVs (non-VP/VO)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62393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Criteria Provided, Single Submitter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Single 1-star SCV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905869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Criteria Provided, Conflicting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★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Multiple 1-star discordant SCVs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7226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No Assertion Criteria Provided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Only 0-star SCVs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46141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No Classification Provided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Only no-classification SCVs</a:t>
                      </a:r>
                    </a:p>
                  </a:txBody>
                  <a:tcPr anchor="ctr"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70712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No Class. from Unflagged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Only flagged SCVs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00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624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F545D-7231-2F67-5E0A-62834D23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Appendix A6: Proposition Direction Mapping for Conflict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F5AF67-8ECF-7842-ADF8-DF4937C3FE0E}"/>
              </a:ext>
            </a:extLst>
          </p:cNvPr>
          <p:cNvSpPr txBox="1"/>
          <p:nvPr/>
        </p:nvSpPr>
        <p:spPr>
          <a:xfrm>
            <a:off x="508000" y="1752600"/>
            <a:ext cx="533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rgbClr val="1565C0"/>
                </a:solidFill>
              </a:rPr>
              <a:t>PATH (Pathogenicity) Proposition Direction Buckets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B604F-AFFD-5D43-89E4-AE94F59E3C87}"/>
              </a:ext>
            </a:extLst>
          </p:cNvPr>
          <p:cNvSpPr txBox="1"/>
          <p:nvPr/>
        </p:nvSpPr>
        <p:spPr>
          <a:xfrm>
            <a:off x="6350000" y="1752600"/>
            <a:ext cx="533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 dirty="0">
                <a:solidFill>
                  <a:srgbClr val="00897B"/>
                </a:solidFill>
              </a:rPr>
              <a:t>ONCO (Oncogenicity) Proposition Direction Buckets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65C565-F966-194F-9223-D76608F7FB14}"/>
              </a:ext>
            </a:extLst>
          </p:cNvPr>
          <p:cNvSpPr txBox="1"/>
          <p:nvPr/>
        </p:nvSpPr>
        <p:spPr>
          <a:xfrm>
            <a:off x="508000" y="4826000"/>
            <a:ext cx="1117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2D3A4A"/>
                </a:solidFill>
              </a:rPr>
              <a:t>Proposition Direction mapping applies only to PATH and ONCO proposition types. All other types have no direction mapping — classification ordinal precedence is used directly.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5F40E6-AD70-F443-97CE-ADF5B9655309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2032000"/>
          <a:ext cx="533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014550938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166557177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Classifications Included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09841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Supports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P, LP, PLP, LPLP, ERA, LRA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8594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Neutral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VUS, URA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5729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Disputes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B, LB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8095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Conflict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CDFS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0801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05B2D6D-8D98-3C49-A00F-503BB385AF4D}"/>
              </a:ext>
            </a:extLst>
          </p:cNvPr>
          <p:cNvGraphicFramePr>
            <a:graphicFrameLocks noGrp="1"/>
          </p:cNvGraphicFramePr>
          <p:nvPr/>
        </p:nvGraphicFramePr>
        <p:xfrm>
          <a:off x="6350000" y="2032000"/>
          <a:ext cx="533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8967656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28628219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Classifications Included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80114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Supports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O, 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0788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Neutral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VUS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57226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Disputes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2D3A4A"/>
                          </a:solidFill>
                        </a:rPr>
                        <a:t>B, LB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064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875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131D-F9F1-3450-EFB9-756B7B504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Appendix A7: Pipeline Overview</a:t>
            </a:r>
          </a:p>
        </p:txBody>
      </p:sp>
      <p:sp>
        <p:nvSpPr>
          <p:cNvPr id="20" name="Step0"/>
          <p:cNvSpPr/>
          <p:nvPr/>
        </p:nvSpPr>
        <p:spPr>
          <a:xfrm>
            <a:off x="381000" y="1841500"/>
            <a:ext cx="1460500" cy="1079500"/>
          </a:xfrm>
          <a:prstGeom prst="roundRect">
            <a:avLst>
              <a:gd name="adj" fmla="val 8000"/>
            </a:avLst>
          </a:prstGeom>
          <a:solidFill>
            <a:srgbClr val="78909C"/>
          </a:solidFill>
          <a:ln w="0">
            <a:noFill/>
          </a:ln>
        </p:spPr>
        <p:txBody>
          <a:bodyPr wrap="square" lIns="27432" tIns="18288" rIns="27432" bIns="18288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lang="en-US" sz="900" b="1" dirty="0">
                <a:solidFill>
                  <a:srgbClr val="FFFFFF"/>
                </a:solidFill>
              </a:rPr>
              <a:t>Variation Identity</a:t>
            </a:r>
          </a:p>
        </p:txBody>
      </p:sp>
      <p:sp>
        <p:nvSpPr>
          <p:cNvPr id="21" name="Desc0"/>
          <p:cNvSpPr txBox="1"/>
          <p:nvPr/>
        </p:nvSpPr>
        <p:spPr>
          <a:xfrm>
            <a:off x="381000" y="3022600"/>
            <a:ext cx="1460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00" i="1" dirty="0">
                <a:solidFill>
                  <a:srgbClr val="78909C"/>
                </a:solidFill>
                <a:latin typeface="Consolas"/>
              </a:rPr>
              <a:t>variation_identity_proc</a:t>
            </a:r>
          </a:p>
        </p:txBody>
      </p:sp>
      <p:sp>
        <p:nvSpPr>
          <p:cNvPr id="22" name="Arr0"/>
          <p:cNvSpPr/>
          <p:nvPr/>
        </p:nvSpPr>
        <p:spPr>
          <a:xfrm>
            <a:off x="1854200" y="2305050"/>
            <a:ext cx="127000" cy="152400"/>
          </a:xfrm>
          <a:prstGeom prst="rightArrow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Step1"/>
          <p:cNvSpPr/>
          <p:nvPr/>
        </p:nvSpPr>
        <p:spPr>
          <a:xfrm>
            <a:off x="1993900" y="1841500"/>
            <a:ext cx="1460500" cy="1079500"/>
          </a:xfrm>
          <a:prstGeom prst="roundRect">
            <a:avLst>
              <a:gd name="adj" fmla="val 8000"/>
            </a:avLst>
          </a:prstGeom>
          <a:solidFill>
            <a:srgbClr val="78909C"/>
          </a:solidFill>
          <a:ln w="0">
            <a:noFill/>
          </a:ln>
        </p:spPr>
        <p:txBody>
          <a:bodyPr wrap="square" lIns="27432" tIns="18288" rIns="27432" bIns="18288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lang="en-US" sz="900" b="1" dirty="0">
                <a:solidFill>
                  <a:srgbClr val="FFFFFF"/>
                </a:solidFill>
              </a:rPr>
              <a:t>External VRS</a:t>
            </a:r>
          </a:p>
        </p:txBody>
      </p:sp>
      <p:sp>
        <p:nvSpPr>
          <p:cNvPr id="24" name="Desc1"/>
          <p:cNvSpPr txBox="1"/>
          <p:nvPr/>
        </p:nvSpPr>
        <p:spPr>
          <a:xfrm>
            <a:off x="1993900" y="3022600"/>
            <a:ext cx="1460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00" i="1" dirty="0">
                <a:solidFill>
                  <a:srgbClr val="78909C"/>
                </a:solidFill>
                <a:latin typeface="Consolas"/>
              </a:rPr>
              <a:t>Python — variant normalization</a:t>
            </a:r>
          </a:p>
        </p:txBody>
      </p:sp>
      <p:sp>
        <p:nvSpPr>
          <p:cNvPr id="25" name="Arr1"/>
          <p:cNvSpPr/>
          <p:nvPr/>
        </p:nvSpPr>
        <p:spPr>
          <a:xfrm>
            <a:off x="3467100" y="2305050"/>
            <a:ext cx="127000" cy="152400"/>
          </a:xfrm>
          <a:prstGeom prst="rightArrow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Step2"/>
          <p:cNvSpPr/>
          <p:nvPr/>
        </p:nvSpPr>
        <p:spPr>
          <a:xfrm>
            <a:off x="3606800" y="1841500"/>
            <a:ext cx="1460500" cy="1079500"/>
          </a:xfrm>
          <a:prstGeom prst="roundRect">
            <a:avLst>
              <a:gd name="adj" fmla="val 8000"/>
            </a:avLst>
          </a:prstGeom>
          <a:solidFill>
            <a:srgbClr val="78909C"/>
          </a:solidFill>
          <a:ln w="0">
            <a:noFill/>
          </a:ln>
        </p:spPr>
        <p:txBody>
          <a:bodyPr wrap="square" lIns="27432" tIns="18288" rIns="27432" bIns="18288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lang="en-US" sz="900" b="1" dirty="0">
                <a:solidFill>
                  <a:srgbClr val="FFFFFF"/>
                </a:solidFill>
              </a:rPr>
              <a:t>Cat-VRS Generation</a:t>
            </a:r>
          </a:p>
        </p:txBody>
      </p:sp>
      <p:sp>
        <p:nvSpPr>
          <p:cNvPr id="27" name="Desc2"/>
          <p:cNvSpPr txBox="1"/>
          <p:nvPr/>
        </p:nvSpPr>
        <p:spPr>
          <a:xfrm>
            <a:off x="3606800" y="3022600"/>
            <a:ext cx="1460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00" i="1" dirty="0">
                <a:solidFill>
                  <a:srgbClr val="78909C"/>
                </a:solidFill>
                <a:latin typeface="Consolas"/>
              </a:rPr>
              <a:t>gks_catvar_proc</a:t>
            </a:r>
          </a:p>
        </p:txBody>
      </p:sp>
      <p:sp>
        <p:nvSpPr>
          <p:cNvPr id="28" name="Arr2"/>
          <p:cNvSpPr/>
          <p:nvPr/>
        </p:nvSpPr>
        <p:spPr>
          <a:xfrm>
            <a:off x="5080000" y="2305050"/>
            <a:ext cx="127000" cy="152400"/>
          </a:xfrm>
          <a:prstGeom prst="rightArrow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Step3"/>
          <p:cNvSpPr/>
          <p:nvPr/>
        </p:nvSpPr>
        <p:spPr>
          <a:xfrm>
            <a:off x="5219700" y="1841500"/>
            <a:ext cx="1460500" cy="10795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 w="0">
            <a:noFill/>
          </a:ln>
        </p:spPr>
        <p:txBody>
          <a:bodyPr wrap="square" lIns="27432" tIns="18288" rIns="27432" bIns="18288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lang="en-US" sz="900" b="1" dirty="0">
                <a:solidFill>
                  <a:srgbClr val="FFFFFF"/>
                </a:solidFill>
              </a:rPr>
              <a:t>Conditions &amp; Traits</a:t>
            </a:r>
          </a:p>
        </p:txBody>
      </p:sp>
      <p:sp>
        <p:nvSpPr>
          <p:cNvPr id="30" name="Desc3"/>
          <p:cNvSpPr txBox="1"/>
          <p:nvPr/>
        </p:nvSpPr>
        <p:spPr>
          <a:xfrm>
            <a:off x="5219700" y="3022600"/>
            <a:ext cx="1460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00" i="1" dirty="0">
                <a:solidFill>
                  <a:srgbClr val="78909C"/>
                </a:solidFill>
                <a:latin typeface="Consolas"/>
              </a:rPr>
              <a:t>gks_scv_condition_proc</a:t>
            </a:r>
          </a:p>
        </p:txBody>
      </p:sp>
      <p:sp>
        <p:nvSpPr>
          <p:cNvPr id="31" name="Arr3"/>
          <p:cNvSpPr/>
          <p:nvPr/>
        </p:nvSpPr>
        <p:spPr>
          <a:xfrm>
            <a:off x="6692900" y="2305050"/>
            <a:ext cx="127000" cy="152400"/>
          </a:xfrm>
          <a:prstGeom prst="rightArrow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Step4"/>
          <p:cNvSpPr/>
          <p:nvPr/>
        </p:nvSpPr>
        <p:spPr>
          <a:xfrm>
            <a:off x="6832600" y="1841500"/>
            <a:ext cx="1460500" cy="10795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 w="0">
            <a:noFill/>
          </a:ln>
        </p:spPr>
        <p:txBody>
          <a:bodyPr wrap="square" lIns="27432" tIns="18288" rIns="27432" bIns="18288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lang="en-US" sz="900" b="1" dirty="0">
                <a:solidFill>
                  <a:srgbClr val="FFFFFF"/>
                </a:solidFill>
              </a:rPr>
              <a:t>SCV Statements</a:t>
            </a:r>
          </a:p>
        </p:txBody>
      </p:sp>
      <p:sp>
        <p:nvSpPr>
          <p:cNvPr id="33" name="Desc4"/>
          <p:cNvSpPr txBox="1"/>
          <p:nvPr/>
        </p:nvSpPr>
        <p:spPr>
          <a:xfrm>
            <a:off x="6832600" y="3022600"/>
            <a:ext cx="1460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00" i="1" dirty="0">
                <a:solidFill>
                  <a:srgbClr val="78909C"/>
                </a:solidFill>
                <a:latin typeface="Consolas"/>
              </a:rPr>
              <a:t>gks_scv_statement_proc</a:t>
            </a:r>
          </a:p>
        </p:txBody>
      </p:sp>
      <p:sp>
        <p:nvSpPr>
          <p:cNvPr id="34" name="Arr4"/>
          <p:cNvSpPr/>
          <p:nvPr/>
        </p:nvSpPr>
        <p:spPr>
          <a:xfrm>
            <a:off x="8305800" y="2305050"/>
            <a:ext cx="127000" cy="152400"/>
          </a:xfrm>
          <a:prstGeom prst="rightArrow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Step5"/>
          <p:cNvSpPr/>
          <p:nvPr/>
        </p:nvSpPr>
        <p:spPr>
          <a:xfrm>
            <a:off x="8445500" y="1841500"/>
            <a:ext cx="1460500" cy="10795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0">
            <a:noFill/>
          </a:ln>
        </p:spPr>
        <p:txBody>
          <a:bodyPr wrap="square" lIns="27432" tIns="18288" rIns="27432" bIns="18288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6</a:t>
            </a:r>
          </a:p>
          <a:p>
            <a:pPr algn="ctr"/>
            <a:r>
              <a:rPr lang="en-US" sz="900" b="1" dirty="0">
                <a:solidFill>
                  <a:srgbClr val="FFFFFF"/>
                </a:solidFill>
              </a:rPr>
              <a:t>VCV Aggregation</a:t>
            </a:r>
          </a:p>
        </p:txBody>
      </p:sp>
      <p:sp>
        <p:nvSpPr>
          <p:cNvPr id="36" name="Desc5"/>
          <p:cNvSpPr txBox="1"/>
          <p:nvPr/>
        </p:nvSpPr>
        <p:spPr>
          <a:xfrm>
            <a:off x="8445500" y="3022600"/>
            <a:ext cx="1460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00" i="1" dirty="0">
                <a:solidFill>
                  <a:srgbClr val="78909C"/>
                </a:solidFill>
                <a:latin typeface="Consolas"/>
              </a:rPr>
              <a:t>gks_vcv_proc + gks_vcv_statement_proc</a:t>
            </a:r>
          </a:p>
        </p:txBody>
      </p:sp>
      <p:sp>
        <p:nvSpPr>
          <p:cNvPr id="37" name="Arr5"/>
          <p:cNvSpPr/>
          <p:nvPr/>
        </p:nvSpPr>
        <p:spPr>
          <a:xfrm>
            <a:off x="9918700" y="2305050"/>
            <a:ext cx="127000" cy="152400"/>
          </a:xfrm>
          <a:prstGeom prst="rightArrow">
            <a:avLst/>
          </a:prstGeom>
          <a:solidFill>
            <a:srgbClr val="B0BEC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Step6"/>
          <p:cNvSpPr/>
          <p:nvPr/>
        </p:nvSpPr>
        <p:spPr>
          <a:xfrm>
            <a:off x="10058400" y="1841500"/>
            <a:ext cx="1460500" cy="1079500"/>
          </a:xfrm>
          <a:prstGeom prst="roundRect">
            <a:avLst>
              <a:gd name="adj" fmla="val 8000"/>
            </a:avLst>
          </a:prstGeom>
          <a:solidFill>
            <a:srgbClr val="5E35B1"/>
          </a:solidFill>
          <a:ln w="0">
            <a:noFill/>
          </a:ln>
        </p:spPr>
        <p:txBody>
          <a:bodyPr wrap="square" lIns="27432" tIns="18288" rIns="27432" bIns="18288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7</a:t>
            </a:r>
          </a:p>
          <a:p>
            <a:pPr algn="ctr"/>
            <a:r>
              <a:rPr lang="en-US" sz="900" b="1" dirty="0">
                <a:solidFill>
                  <a:srgbClr val="FFFFFF"/>
                </a:solidFill>
              </a:rPr>
              <a:t>JSON Assembly</a:t>
            </a:r>
          </a:p>
        </p:txBody>
      </p:sp>
      <p:sp>
        <p:nvSpPr>
          <p:cNvPr id="39" name="Desc6"/>
          <p:cNvSpPr txBox="1"/>
          <p:nvPr/>
        </p:nvSpPr>
        <p:spPr>
          <a:xfrm>
            <a:off x="10058400" y="3022600"/>
            <a:ext cx="1460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700" i="1" dirty="0">
                <a:solidFill>
                  <a:srgbClr val="78909C"/>
                </a:solidFill>
                <a:latin typeface="Consolas"/>
              </a:rPr>
              <a:t>get_gks_vcv_assembled_payload_proc</a:t>
            </a:r>
          </a:p>
        </p:txBody>
      </p:sp>
      <p:sp>
        <p:nvSpPr>
          <p:cNvPr id="50" name="Scale"/>
          <p:cNvSpPr/>
          <p:nvPr/>
        </p:nvSpPr>
        <p:spPr>
          <a:xfrm>
            <a:off x="508000" y="3937000"/>
            <a:ext cx="11303000" cy="698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0">
            <a:noFill/>
          </a:ln>
        </p:spPr>
        <p:txBody>
          <a:bodyPr wrap="square" lIns="54864" tIns="27432" rIns="54864" bIns="27432" anchor="ctr"/>
          <a:lstStyle/>
          <a:p>
            <a:pPr algn="ctr"/>
            <a:r>
              <a:rPr lang="en-US" sz="1400" b="1" dirty="0">
                <a:solidFill>
                  <a:srgbClr val="1565C0"/>
                </a:solidFill>
              </a:rPr>
              <a:t>Dataset Scale: </a:t>
            </a:r>
            <a:r>
              <a:rPr lang="en-US" sz="1400" dirty="0">
                <a:solidFill>
                  <a:srgbClr val="2D3A4A"/>
                </a:solidFill>
              </a:rPr>
              <a:t>4.5M+ variations  |  6.8M+ SCVs processed  |  Weekly ClinVar releases</a:t>
            </a:r>
          </a:p>
        </p:txBody>
      </p:sp>
      <p:sp>
        <p:nvSpPr>
          <p:cNvPr id="51" name="Legend"/>
          <p:cNvSpPr txBox="1"/>
          <p:nvPr/>
        </p:nvSpPr>
        <p:spPr>
          <a:xfrm>
            <a:off x="508000" y="4826000"/>
            <a:ext cx="11303000" cy="139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2D3A4A"/>
                </a:solidFill>
              </a:rPr>
              <a:t>Color Legend:</a:t>
            </a:r>
          </a:p>
          <a:p>
            <a:pPr algn="l">
              <a:buFont typeface="Arial"/>
              <a:buChar char="•"/>
            </a:pPr>
            <a:r>
              <a:rPr lang="en-US" sz="1100" dirty="0">
                <a:solidFill>
                  <a:srgbClr val="78909C"/>
                </a:solidFill>
              </a:rPr>
              <a:t>Gray: Variation identity </a:t>
            </a:r>
            <a:r>
              <a:rPr lang="en-US" sz="1100" dirty="0">
                <a:solidFill>
                  <a:srgbClr val="00897B"/>
                </a:solidFill>
              </a:rPr>
              <a:t>  Teal: Condition mapping </a:t>
            </a:r>
            <a:r>
              <a:rPr lang="en-US" sz="1100" dirty="0">
                <a:solidFill>
                  <a:srgbClr val="1565C0"/>
                </a:solidFill>
              </a:rPr>
              <a:t>  Blue: SCV statements</a:t>
            </a:r>
          </a:p>
          <a:p>
            <a:pPr algn="l">
              <a:buFont typeface="Arial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Green: VCV aggregation (focus of this presentation) </a:t>
            </a:r>
            <a:r>
              <a:rPr lang="en-US" sz="1100" dirty="0">
                <a:solidFill>
                  <a:srgbClr val="5E35B1"/>
                </a:solidFill>
              </a:rPr>
              <a:t>  Purple: Final assembly</a:t>
            </a:r>
          </a:p>
        </p:txBody>
      </p:sp>
    </p:spTree>
    <p:extLst>
      <p:ext uri="{BB962C8B-B14F-4D97-AF65-F5344CB8AC3E}">
        <p14:creationId xmlns:p14="http://schemas.microsoft.com/office/powerpoint/2010/main" val="2332562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455307012]">
  <a:themeElements>
    <a:clrScheme name="ClinVar GKS">
      <a:dk1>
        <a:srgbClr val="1A1A2E"/>
      </a:dk1>
      <a:lt1>
        <a:srgbClr val="F7F8FA"/>
      </a:lt1>
      <a:dk2>
        <a:srgbClr val="2D3A4A"/>
      </a:dk2>
      <a:lt2>
        <a:srgbClr val="E8ECF0"/>
      </a:lt2>
      <a:accent1>
        <a:srgbClr val="1565C0"/>
      </a:accent1>
      <a:accent2>
        <a:srgbClr val="00897B"/>
      </a:accent2>
      <a:accent3>
        <a:srgbClr val="2E7D32"/>
      </a:accent3>
      <a:accent4>
        <a:srgbClr val="78909C"/>
      </a:accent4>
      <a:accent5>
        <a:srgbClr val="F57C00"/>
      </a:accent5>
      <a:accent6>
        <a:srgbClr val="5E35B1"/>
      </a:accent6>
      <a:hlink>
        <a:srgbClr val="1565C0"/>
      </a:hlink>
      <a:folHlink>
        <a:srgbClr val="5E35B1"/>
      </a:folHlink>
    </a:clrScheme>
    <a:fontScheme name="ClinVar GKS Fonts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F8724DF-5C5C-D648-A724-3A1592391FBB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3574</Words>
  <Application>Microsoft Macintosh PowerPoint</Application>
  <PresentationFormat>Widescreen</PresentationFormat>
  <Paragraphs>587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Arial</vt:lpstr>
      <vt:lpstr>Consolas</vt:lpstr>
      <vt:lpstr>Segoe UI</vt:lpstr>
      <vt:lpstr>Segoe UI Semibold</vt:lpstr>
      <vt:lpstr>Office Theme [1774455307012]</vt:lpstr>
      <vt:lpstr>PowerPoint Presentation</vt:lpstr>
      <vt:lpstr>Agenda</vt:lpstr>
      <vt:lpstr>The Problem — Why Aggregate?</vt:lpstr>
      <vt:lpstr>GA4GH GKS Building Blocks</vt:lpstr>
      <vt:lpstr>SCV Statements — The Atomic Unit</vt:lpstr>
      <vt:lpstr>Two Assertion Groups</vt:lpstr>
      <vt:lpstr>The 4-Layer Aggregation Architecture</vt:lpstr>
      <vt:lpstr>Layer 1 — Base Aggregation</vt:lpstr>
      <vt:lpstr>Layer 1 — Concordance &amp; Conflict Detection</vt:lpstr>
      <vt:lpstr>Layer 2 — Tier Aggregation (SCI Only)</vt:lpstr>
      <vt:lpstr>Layer 3 — Proposition Aggregation</vt:lpstr>
      <vt:lpstr>Layer 4 — Group Aggregation (Germline Only)</vt:lpstr>
      <vt:lpstr>SCV References at Leaf Nodes</vt:lpstr>
      <vt:lpstr>Contributing vs. Non-Contributing — The Bubbling Rules</vt:lpstr>
      <vt:lpstr>Full Germline Walkthrough — VCV000012582.63-G</vt:lpstr>
      <vt:lpstr>Why This Matters for Consumers</vt:lpstr>
      <vt:lpstr>Somatic Clinical Impact — VCV000012582.63-S-sci</vt:lpstr>
      <vt:lpstr>The AggregateStatementProposition</vt:lpstr>
      <vt:lpstr>ID Convention</vt:lpstr>
      <vt:lpstr>Review Status Promotion</vt:lpstr>
      <vt:lpstr>Design Decisions for Discussion</vt:lpstr>
      <vt:lpstr>What's Next</vt:lpstr>
      <vt:lpstr>Appendix A1: VCV000012582.63-G (Germline)</vt:lpstr>
      <vt:lpstr>Appendix A2: VCV000012582.63-S-SCI (Somatic Clinical Impact)</vt:lpstr>
      <vt:lpstr>Appendix A3: VCV000012582.63-S-ONCO (Oncogenicity)</vt:lpstr>
      <vt:lpstr>Appendix A4: Classification Precedence Tables</vt:lpstr>
      <vt:lpstr>Appendix A5: Review Status Hierarchies</vt:lpstr>
      <vt:lpstr>Appendix A6: Proposition Direction Mapping for Conflict Detection</vt:lpstr>
      <vt:lpstr>Appendix A7: Pipeline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Babb</dc:creator>
  <cp:lastModifiedBy>Larry Babb</cp:lastModifiedBy>
  <cp:revision>4</cp:revision>
  <dcterms:created xsi:type="dcterms:W3CDTF">2026-03-25T16:12:55Z</dcterms:created>
  <dcterms:modified xsi:type="dcterms:W3CDTF">2026-03-26T00:50:52Z</dcterms:modified>
</cp:coreProperties>
</file>